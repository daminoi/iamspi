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4" roundtripDataSignature="AMtx7mjXiJIc4CqrgSkSsZJ0G8Sxe57EU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24" Type="http://customschemas.google.com/relationships/presentationmetadata" Target="metadata"/><Relationship Id="rId12" Type="http://schemas.openxmlformats.org/officeDocument/2006/relationships/slide" Target="slides/slide7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it-IT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1" name="Google Shape;22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1" name="Google Shape;391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2" name="Google Shape;412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3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3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4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24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5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25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25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25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7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7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7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8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8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8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9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0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0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hyperlink" Target="https://science.nasa.gov/earth/explore/earth-indicators/carbon-dioxide/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www.insst.es/documentacion/colecciones-tecnicas/ntp-notas-tecnicas-de-prevencion/21-serie-ntp-numeros-716-a-750-ano-2006/ntp-742-ventilacion-general-de-edificios" TargetMode="External"/><Relationship Id="rId4" Type="http://schemas.openxmlformats.org/officeDocument/2006/relationships/hyperlink" Target="https://www.hse.gov.uk/carboncapture/carbondioxide.htm" TargetMode="External"/><Relationship Id="rId5" Type="http://schemas.openxmlformats.org/officeDocument/2006/relationships/hyperlink" Target="https://www.isprambiente.gov.it/it/archivio/eventi/2024/10/rischio-radon-e-interventi-di-efficientamento-energetico/confessore.pdf" TargetMode="External"/><Relationship Id="rId6" Type="http://schemas.openxmlformats.org/officeDocument/2006/relationships/hyperlink" Target="https://www.isprambiente.gov.it/it/archivio/eventi/2024/10/rischio-radon-e-interventi-di-efficientamento-energetico/confessore.pdf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Relationship Id="rId4" Type="http://schemas.openxmlformats.org/officeDocument/2006/relationships/hyperlink" Target="https://sensirion.com/media/documents/48C4B7FB/67FE0194/CD_DS_SCD4x_Datasheet_D1.pdf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9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/>
          <p:nvPr/>
        </p:nvSpPr>
        <p:spPr>
          <a:xfrm>
            <a:off x="0" y="-41148"/>
            <a:ext cx="9144000" cy="5143500"/>
          </a:xfrm>
          <a:prstGeom prst="rect">
            <a:avLst/>
          </a:prstGeom>
          <a:solidFill>
            <a:srgbClr val="0D1B2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9A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3A5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457200" y="640080"/>
            <a:ext cx="6400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Workplace Air Quality</a:t>
            </a:r>
            <a:endParaRPr/>
          </a:p>
        </p:txBody>
      </p:sp>
      <p:sp>
        <p:nvSpPr>
          <p:cNvPr id="92" name="Google Shape;92;p1"/>
          <p:cNvSpPr txBox="1"/>
          <p:nvPr/>
        </p:nvSpPr>
        <p:spPr>
          <a:xfrm>
            <a:off x="457200" y="1325880"/>
            <a:ext cx="6400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3600" u="none" cap="none" strike="noStrike">
                <a:solidFill>
                  <a:srgbClr val="00C9A7"/>
                </a:solidFill>
                <a:latin typeface="Calibri"/>
                <a:ea typeface="Calibri"/>
                <a:cs typeface="Calibri"/>
                <a:sym typeface="Calibri"/>
              </a:rPr>
              <a:t>Monitoring</a:t>
            </a:r>
            <a:endParaRPr/>
          </a:p>
        </p:txBody>
      </p:sp>
      <p:sp>
        <p:nvSpPr>
          <p:cNvPr id="93" name="Google Shape;93;p1"/>
          <p:cNvSpPr txBox="1"/>
          <p:nvPr/>
        </p:nvSpPr>
        <p:spPr>
          <a:xfrm>
            <a:off x="457200" y="2103120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it-IT" sz="1400" u="none" cap="none" strike="noStrike">
                <a:solidFill>
                  <a:srgbClr val="8BA3B8"/>
                </a:solidFill>
                <a:latin typeface="Calibri"/>
                <a:ea typeface="Calibri"/>
                <a:cs typeface="Calibri"/>
                <a:sym typeface="Calibri"/>
              </a:rPr>
              <a:t>An IoT Solution using ESP32 &amp; LoRa</a:t>
            </a:r>
            <a:endParaRPr/>
          </a:p>
        </p:txBody>
      </p:sp>
      <p:sp>
        <p:nvSpPr>
          <p:cNvPr id="94" name="Google Shape;94;p1"/>
          <p:cNvSpPr/>
          <p:nvPr/>
        </p:nvSpPr>
        <p:spPr>
          <a:xfrm>
            <a:off x="457200" y="4160520"/>
            <a:ext cx="1920240" cy="457200"/>
          </a:xfrm>
          <a:prstGeom prst="rect">
            <a:avLst/>
          </a:prstGeom>
          <a:solidFill>
            <a:srgbClr val="132338"/>
          </a:solidFill>
          <a:ln cap="flat" cmpd="sng" w="12700">
            <a:solidFill>
              <a:srgbClr val="538CD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457199" y="4257743"/>
            <a:ext cx="1920240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LoRa</a:t>
            </a:r>
            <a:endParaRPr b="1" i="0" sz="11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"/>
          <p:cNvSpPr/>
          <p:nvPr/>
        </p:nvSpPr>
        <p:spPr>
          <a:xfrm>
            <a:off x="2560320" y="4160520"/>
            <a:ext cx="1920240" cy="457200"/>
          </a:xfrm>
          <a:prstGeom prst="rect">
            <a:avLst/>
          </a:prstGeom>
          <a:solidFill>
            <a:srgbClr val="132338"/>
          </a:solidFill>
          <a:ln cap="flat" cmpd="sng" w="12700">
            <a:solidFill>
              <a:srgbClr val="538CD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"/>
          <p:cNvSpPr txBox="1"/>
          <p:nvPr/>
        </p:nvSpPr>
        <p:spPr>
          <a:xfrm>
            <a:off x="2560320" y="4257743"/>
            <a:ext cx="1920240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SCD41</a:t>
            </a:r>
            <a:endParaRPr b="1" i="0" sz="11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"/>
          <p:cNvSpPr txBox="1"/>
          <p:nvPr/>
        </p:nvSpPr>
        <p:spPr>
          <a:xfrm>
            <a:off x="6858000" y="4828032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it-IT" sz="900" u="none" cap="none" strike="noStrike">
                <a:solidFill>
                  <a:srgbClr val="8BA3B8"/>
                </a:solidFill>
                <a:latin typeface="Calibri"/>
                <a:ea typeface="Calibri"/>
                <a:cs typeface="Calibri"/>
                <a:sym typeface="Calibri"/>
              </a:rPr>
              <a:t>IoTeam 2026</a:t>
            </a:r>
            <a:endParaRPr/>
          </a:p>
        </p:txBody>
      </p:sp>
      <p:pic>
        <p:nvPicPr>
          <p:cNvPr id="99" name="Google Shape;9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26627" y="1399032"/>
            <a:ext cx="3373582" cy="2530187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"/>
          <p:cNvSpPr txBox="1"/>
          <p:nvPr/>
        </p:nvSpPr>
        <p:spPr>
          <a:xfrm>
            <a:off x="5517572" y="4468068"/>
            <a:ext cx="3626428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900" u="sng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https://science.nasa.gov/earth/explore/earth-indicators/carbon-dioxide/</a:t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"/>
          <p:cNvSpPr txBox="1"/>
          <p:nvPr/>
        </p:nvSpPr>
        <p:spPr>
          <a:xfrm>
            <a:off x="5226627" y="3914963"/>
            <a:ext cx="337358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CO2 concentration in the atmosphere over the years, in parts per million.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"/>
          <p:cNvSpPr/>
          <p:nvPr/>
        </p:nvSpPr>
        <p:spPr>
          <a:xfrm>
            <a:off x="0" y="64008"/>
            <a:ext cx="9144000" cy="5143500"/>
          </a:xfrm>
          <a:prstGeom prst="rect">
            <a:avLst/>
          </a:prstGeom>
          <a:solidFill>
            <a:srgbClr val="0D1B2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8384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2"/>
          <p:cNvSpPr/>
          <p:nvPr/>
        </p:nvSpPr>
        <p:spPr>
          <a:xfrm>
            <a:off x="365760" y="160020"/>
            <a:ext cx="1397635" cy="307777"/>
          </a:xfrm>
          <a:prstGeom prst="rect">
            <a:avLst/>
          </a:prstGeom>
          <a:solidFill>
            <a:srgbClr val="E8384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2"/>
          <p:cNvSpPr txBox="1"/>
          <p:nvPr/>
        </p:nvSpPr>
        <p:spPr>
          <a:xfrm>
            <a:off x="307022" y="169164"/>
            <a:ext cx="151511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PROBLEM</a:t>
            </a:r>
            <a:endParaRPr/>
          </a:p>
        </p:txBody>
      </p:sp>
      <p:sp>
        <p:nvSpPr>
          <p:cNvPr id="111" name="Google Shape;111;p2"/>
          <p:cNvSpPr/>
          <p:nvPr/>
        </p:nvSpPr>
        <p:spPr>
          <a:xfrm>
            <a:off x="365760" y="1028700"/>
            <a:ext cx="2606040" cy="3337560"/>
          </a:xfrm>
          <a:prstGeom prst="rect">
            <a:avLst/>
          </a:prstGeom>
          <a:solidFill>
            <a:srgbClr val="13233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2"/>
          <p:cNvSpPr/>
          <p:nvPr/>
        </p:nvSpPr>
        <p:spPr>
          <a:xfrm>
            <a:off x="365760" y="1028700"/>
            <a:ext cx="2606040" cy="45720"/>
          </a:xfrm>
          <a:prstGeom prst="rect">
            <a:avLst/>
          </a:prstGeom>
          <a:solidFill>
            <a:srgbClr val="E8384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2"/>
          <p:cNvSpPr txBox="1"/>
          <p:nvPr/>
        </p:nvSpPr>
        <p:spPr>
          <a:xfrm>
            <a:off x="502920" y="1165860"/>
            <a:ext cx="2331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1400">
                <a:solidFill>
                  <a:srgbClr val="E8384D"/>
                </a:solidFill>
                <a:latin typeface="Calibri"/>
                <a:ea typeface="Calibri"/>
                <a:cs typeface="Calibri"/>
                <a:sym typeface="Calibri"/>
              </a:rPr>
              <a:t>CO₂ Buildup</a:t>
            </a:r>
            <a:endParaRPr/>
          </a:p>
        </p:txBody>
      </p:sp>
      <p:sp>
        <p:nvSpPr>
          <p:cNvPr id="114" name="Google Shape;114;p2"/>
          <p:cNvSpPr txBox="1"/>
          <p:nvPr/>
        </p:nvSpPr>
        <p:spPr>
          <a:xfrm>
            <a:off x="502920" y="1668780"/>
            <a:ext cx="2413462" cy="24622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8BA3B8"/>
              </a:buClr>
              <a:buSzPts val="1400"/>
              <a:buFont typeface="Arial"/>
              <a:buChar char="•"/>
            </a:pPr>
            <a:r>
              <a:rPr b="0" i="0" lang="it-IT" sz="1400">
                <a:solidFill>
                  <a:srgbClr val="8BA3B8"/>
                </a:solidFill>
                <a:latin typeface="Calibri"/>
                <a:ea typeface="Calibri"/>
                <a:cs typeface="Calibri"/>
                <a:sym typeface="Calibri"/>
              </a:rPr>
              <a:t>A CO2 </a:t>
            </a:r>
            <a:r>
              <a:rPr lang="it-IT" sz="1400">
                <a:solidFill>
                  <a:srgbClr val="8BA3B8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b="0" i="0" lang="it-IT" sz="1400">
                <a:solidFill>
                  <a:srgbClr val="8BA3B8"/>
                </a:solidFill>
                <a:latin typeface="Calibri"/>
                <a:ea typeface="Calibri"/>
                <a:cs typeface="Calibri"/>
                <a:sym typeface="Calibri"/>
              </a:rPr>
              <a:t>evel above 1,000 ppm inside buildings is an indicator of bad air quality</a:t>
            </a:r>
            <a:r>
              <a:rPr b="0" baseline="30000" i="0" lang="it-IT" sz="1400">
                <a:solidFill>
                  <a:srgbClr val="8BA3B8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0" lang="it-IT" sz="1400">
                <a:solidFill>
                  <a:srgbClr val="8BA3B8"/>
                </a:solidFill>
                <a:latin typeface="Calibri"/>
                <a:ea typeface="Calibri"/>
                <a:cs typeface="Calibri"/>
                <a:sym typeface="Calibri"/>
              </a:rPr>
              <a:t> and can cause mild discomfort.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8BA3B8"/>
              </a:buClr>
              <a:buSzPts val="1400"/>
              <a:buFont typeface="Arial"/>
              <a:buChar char="•"/>
            </a:pPr>
            <a:r>
              <a:rPr lang="it-IT" sz="1400">
                <a:solidFill>
                  <a:srgbClr val="8BA3B8"/>
                </a:solidFill>
                <a:latin typeface="Calibri"/>
                <a:ea typeface="Calibri"/>
                <a:cs typeface="Calibri"/>
                <a:sym typeface="Calibri"/>
              </a:rPr>
              <a:t>5000ppm is the maximum threshold for a 8hr exposure</a:t>
            </a:r>
            <a:r>
              <a:rPr baseline="30000" lang="it-IT" sz="1400">
                <a:solidFill>
                  <a:srgbClr val="8BA3B8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it-IT" sz="1400">
                <a:solidFill>
                  <a:srgbClr val="8BA3B8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400">
              <a:solidFill>
                <a:srgbClr val="8BA3B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8BA3B8"/>
              </a:buClr>
              <a:buSzPts val="1400"/>
              <a:buFont typeface="Arial"/>
              <a:buChar char="•"/>
            </a:pPr>
            <a:r>
              <a:rPr lang="it-IT" sz="1400">
                <a:solidFill>
                  <a:srgbClr val="8BA3B8"/>
                </a:solidFill>
                <a:latin typeface="Calibri"/>
                <a:ea typeface="Calibri"/>
                <a:cs typeface="Calibri"/>
                <a:sym typeface="Calibri"/>
              </a:rPr>
              <a:t>There is no agreement on exact thresholds, different guidelines are present</a:t>
            </a:r>
            <a:r>
              <a:rPr baseline="30000" lang="it-IT" sz="1400">
                <a:solidFill>
                  <a:srgbClr val="8BA3B8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lang="it-IT" sz="1400">
                <a:solidFill>
                  <a:srgbClr val="8BA3B8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400">
              <a:solidFill>
                <a:srgbClr val="8BA3B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2"/>
          <p:cNvSpPr/>
          <p:nvPr/>
        </p:nvSpPr>
        <p:spPr>
          <a:xfrm>
            <a:off x="3108960" y="1015663"/>
            <a:ext cx="2606040" cy="2066973"/>
          </a:xfrm>
          <a:prstGeom prst="rect">
            <a:avLst/>
          </a:prstGeom>
          <a:solidFill>
            <a:srgbClr val="13233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2"/>
          <p:cNvSpPr/>
          <p:nvPr/>
        </p:nvSpPr>
        <p:spPr>
          <a:xfrm>
            <a:off x="3108960" y="1015663"/>
            <a:ext cx="2606040" cy="45720"/>
          </a:xfrm>
          <a:prstGeom prst="rect">
            <a:avLst/>
          </a:prstGeom>
          <a:solidFill>
            <a:srgbClr val="F5A62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2"/>
          <p:cNvSpPr txBox="1"/>
          <p:nvPr/>
        </p:nvSpPr>
        <p:spPr>
          <a:xfrm>
            <a:off x="3246120" y="1152823"/>
            <a:ext cx="2331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1400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Temperature</a:t>
            </a:r>
            <a:endParaRPr/>
          </a:p>
        </p:txBody>
      </p:sp>
      <p:sp>
        <p:nvSpPr>
          <p:cNvPr id="118" name="Google Shape;118;p2"/>
          <p:cNvSpPr txBox="1"/>
          <p:nvPr/>
        </p:nvSpPr>
        <p:spPr>
          <a:xfrm>
            <a:off x="3246120" y="1655743"/>
            <a:ext cx="2331720" cy="11695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1400">
                <a:solidFill>
                  <a:srgbClr val="8BA3B8"/>
                </a:solidFill>
                <a:latin typeface="Calibri"/>
                <a:ea typeface="Calibri"/>
                <a:cs typeface="Calibri"/>
                <a:sym typeface="Calibri"/>
              </a:rPr>
              <a:t>Deviations from the 20–24°C optimal range can reduce</a:t>
            </a:r>
            <a:br>
              <a:rPr b="0" i="0" lang="it-IT" sz="1400">
                <a:solidFill>
                  <a:srgbClr val="8BA3B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it-IT" sz="1400">
                <a:solidFill>
                  <a:srgbClr val="8BA3B8"/>
                </a:solidFill>
                <a:latin typeface="Calibri"/>
                <a:ea typeface="Calibri"/>
                <a:cs typeface="Calibri"/>
                <a:sym typeface="Calibri"/>
              </a:rPr>
              <a:t>productivity and physical comfort for prolonged occupancy.</a:t>
            </a:r>
            <a:endParaRPr b="0" i="0" sz="1400">
              <a:solidFill>
                <a:srgbClr val="8BA3B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2"/>
          <p:cNvSpPr/>
          <p:nvPr/>
        </p:nvSpPr>
        <p:spPr>
          <a:xfrm>
            <a:off x="5989320" y="1010583"/>
            <a:ext cx="2606040" cy="2072053"/>
          </a:xfrm>
          <a:prstGeom prst="rect">
            <a:avLst/>
          </a:prstGeom>
          <a:solidFill>
            <a:srgbClr val="13233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2"/>
          <p:cNvSpPr/>
          <p:nvPr/>
        </p:nvSpPr>
        <p:spPr>
          <a:xfrm>
            <a:off x="5989320" y="1010583"/>
            <a:ext cx="2606040" cy="45720"/>
          </a:xfrm>
          <a:prstGeom prst="rect">
            <a:avLst/>
          </a:prstGeom>
          <a:solidFill>
            <a:srgbClr val="2E6DA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2"/>
          <p:cNvSpPr txBox="1"/>
          <p:nvPr/>
        </p:nvSpPr>
        <p:spPr>
          <a:xfrm>
            <a:off x="6126480" y="1147743"/>
            <a:ext cx="2331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1400">
                <a:solidFill>
                  <a:srgbClr val="2E6DA4"/>
                </a:solidFill>
                <a:latin typeface="Calibri"/>
                <a:ea typeface="Calibri"/>
                <a:cs typeface="Calibri"/>
                <a:sym typeface="Calibri"/>
              </a:rPr>
              <a:t>Humidity</a:t>
            </a:r>
            <a:endParaRPr/>
          </a:p>
        </p:txBody>
      </p:sp>
      <p:sp>
        <p:nvSpPr>
          <p:cNvPr id="122" name="Google Shape;122;p2"/>
          <p:cNvSpPr txBox="1"/>
          <p:nvPr/>
        </p:nvSpPr>
        <p:spPr>
          <a:xfrm>
            <a:off x="6126480" y="1650663"/>
            <a:ext cx="2331720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rgbClr val="8BA3B8"/>
                </a:solidFill>
                <a:latin typeface="Calibri"/>
                <a:ea typeface="Calibri"/>
                <a:cs typeface="Calibri"/>
                <a:sym typeface="Calibri"/>
              </a:rPr>
              <a:t>The</a:t>
            </a:r>
            <a:r>
              <a:rPr b="0" i="0" lang="it-IT" sz="1400">
                <a:solidFill>
                  <a:srgbClr val="8BA3B8"/>
                </a:solidFill>
                <a:latin typeface="Calibri"/>
                <a:ea typeface="Calibri"/>
                <a:cs typeface="Calibri"/>
                <a:sym typeface="Calibri"/>
              </a:rPr>
              <a:t> 40–60% RH range is considered optimal for human comfort.</a:t>
            </a:r>
            <a:endParaRPr/>
          </a:p>
        </p:txBody>
      </p:sp>
      <p:sp>
        <p:nvSpPr>
          <p:cNvPr id="123" name="Google Shape;123;p2"/>
          <p:cNvSpPr txBox="1"/>
          <p:nvPr/>
        </p:nvSpPr>
        <p:spPr>
          <a:xfrm>
            <a:off x="3650673" y="4558937"/>
            <a:ext cx="5415742" cy="5078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28600" lvl="0" marL="22860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alibri"/>
              <a:buAutoNum type="arabicPeriod"/>
            </a:pPr>
            <a:r>
              <a:rPr lang="it-IT" sz="900" u="sng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Spanish government guidelines for building ventilation</a:t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alibri"/>
              <a:buAutoNum type="arabicPeriod"/>
            </a:pPr>
            <a:r>
              <a:rPr lang="it-IT" sz="900" u="sng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UK’s HSE guidelines for workplaces</a:t>
            </a:r>
            <a:endParaRPr sz="900" u="sng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  <a:hlinkClick r:id="rId5">
                <a:extLst>
                  <a:ext uri="{A12FA001-AC4F-418D-AE19-62706E023703}">
                    <ahyp:hlinkClr val="tx"/>
                  </a:ext>
                </a:extLst>
              </a:hlinkClick>
            </a:endParaRPr>
          </a:p>
          <a:p>
            <a:pPr indent="-228600" lvl="0" marL="22860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alibri"/>
              <a:buAutoNum type="arabicPeriod"/>
            </a:pPr>
            <a:r>
              <a:rPr lang="it-IT" sz="900" u="sng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ISPRA presentation on radon and indoor air quality</a:t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6F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3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E6DA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3"/>
          <p:cNvSpPr/>
          <p:nvPr/>
        </p:nvSpPr>
        <p:spPr>
          <a:xfrm>
            <a:off x="457200" y="164591"/>
            <a:ext cx="1587500" cy="307777"/>
          </a:xfrm>
          <a:prstGeom prst="rect">
            <a:avLst/>
          </a:prstGeom>
          <a:solidFill>
            <a:srgbClr val="2E6DA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3"/>
          <p:cNvSpPr txBox="1"/>
          <p:nvPr/>
        </p:nvSpPr>
        <p:spPr>
          <a:xfrm>
            <a:off x="347472" y="174061"/>
            <a:ext cx="170180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APPROACH</a:t>
            </a:r>
            <a:endParaRPr b="1" i="0" sz="1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3"/>
          <p:cNvSpPr txBox="1"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28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Why This Demands an IoT Solution</a:t>
            </a:r>
            <a:endParaRPr/>
          </a:p>
        </p:txBody>
      </p:sp>
      <p:sp>
        <p:nvSpPr>
          <p:cNvPr id="133" name="Google Shape;133;p3"/>
          <p:cNvSpPr/>
          <p:nvPr/>
        </p:nvSpPr>
        <p:spPr>
          <a:xfrm>
            <a:off x="347472" y="1417320"/>
            <a:ext cx="2651760" cy="157276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C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3"/>
          <p:cNvSpPr/>
          <p:nvPr/>
        </p:nvSpPr>
        <p:spPr>
          <a:xfrm>
            <a:off x="347472" y="1417320"/>
            <a:ext cx="2651760" cy="45720"/>
          </a:xfrm>
          <a:prstGeom prst="rect">
            <a:avLst/>
          </a:prstGeom>
          <a:solidFill>
            <a:srgbClr val="2E6DA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3"/>
          <p:cNvSpPr/>
          <p:nvPr/>
        </p:nvSpPr>
        <p:spPr>
          <a:xfrm>
            <a:off x="466344" y="1581912"/>
            <a:ext cx="384048" cy="384048"/>
          </a:xfrm>
          <a:prstGeom prst="ellipse">
            <a:avLst/>
          </a:prstGeom>
          <a:solidFill>
            <a:srgbClr val="2E6DA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3"/>
          <p:cNvSpPr txBox="1"/>
          <p:nvPr/>
        </p:nvSpPr>
        <p:spPr>
          <a:xfrm>
            <a:off x="941832" y="1563624"/>
            <a:ext cx="192024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1200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Continuous Sensing</a:t>
            </a:r>
            <a:endParaRPr/>
          </a:p>
        </p:txBody>
      </p:sp>
      <p:sp>
        <p:nvSpPr>
          <p:cNvPr id="137" name="Google Shape;137;p3"/>
          <p:cNvSpPr txBox="1"/>
          <p:nvPr/>
        </p:nvSpPr>
        <p:spPr>
          <a:xfrm>
            <a:off x="466344" y="2011680"/>
            <a:ext cx="2532888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12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Automated 24/7 monitoring across multiple rooms simultaneously. Human intervention not needed (except for programmed battery recharging).</a:t>
            </a:r>
            <a:endParaRPr/>
          </a:p>
        </p:txBody>
      </p:sp>
      <p:sp>
        <p:nvSpPr>
          <p:cNvPr id="138" name="Google Shape;138;p3"/>
          <p:cNvSpPr/>
          <p:nvPr/>
        </p:nvSpPr>
        <p:spPr>
          <a:xfrm>
            <a:off x="3200400" y="1417320"/>
            <a:ext cx="2651760" cy="157276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C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3"/>
          <p:cNvSpPr/>
          <p:nvPr/>
        </p:nvSpPr>
        <p:spPr>
          <a:xfrm>
            <a:off x="3200400" y="1417320"/>
            <a:ext cx="2651760" cy="45720"/>
          </a:xfrm>
          <a:prstGeom prst="rect">
            <a:avLst/>
          </a:prstGeom>
          <a:solidFill>
            <a:srgbClr val="2E6DA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3"/>
          <p:cNvSpPr/>
          <p:nvPr/>
        </p:nvSpPr>
        <p:spPr>
          <a:xfrm>
            <a:off x="3319272" y="1581912"/>
            <a:ext cx="384048" cy="384048"/>
          </a:xfrm>
          <a:prstGeom prst="ellipse">
            <a:avLst/>
          </a:prstGeom>
          <a:solidFill>
            <a:srgbClr val="2E6DA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3"/>
          <p:cNvSpPr txBox="1"/>
          <p:nvPr/>
        </p:nvSpPr>
        <p:spPr>
          <a:xfrm>
            <a:off x="3794760" y="1563624"/>
            <a:ext cx="192024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1200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Real-Time Alerting</a:t>
            </a:r>
            <a:endParaRPr/>
          </a:p>
        </p:txBody>
      </p:sp>
      <p:sp>
        <p:nvSpPr>
          <p:cNvPr id="142" name="Google Shape;142;p3"/>
          <p:cNvSpPr txBox="1"/>
          <p:nvPr/>
        </p:nvSpPr>
        <p:spPr>
          <a:xfrm>
            <a:off x="3319272" y="2011680"/>
            <a:ext cx="242316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Crossing thresholds repeatedly alerts the central building management system.</a:t>
            </a:r>
            <a:endParaRPr sz="1200">
              <a:solidFill>
                <a:srgbClr val="4A556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3"/>
          <p:cNvSpPr/>
          <p:nvPr/>
        </p:nvSpPr>
        <p:spPr>
          <a:xfrm>
            <a:off x="6053328" y="1417320"/>
            <a:ext cx="2651760" cy="157276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C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3"/>
          <p:cNvSpPr/>
          <p:nvPr/>
        </p:nvSpPr>
        <p:spPr>
          <a:xfrm>
            <a:off x="6053328" y="1417320"/>
            <a:ext cx="2651760" cy="45720"/>
          </a:xfrm>
          <a:prstGeom prst="rect">
            <a:avLst/>
          </a:prstGeom>
          <a:solidFill>
            <a:srgbClr val="2E6DA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3"/>
          <p:cNvSpPr/>
          <p:nvPr/>
        </p:nvSpPr>
        <p:spPr>
          <a:xfrm>
            <a:off x="6172200" y="1581912"/>
            <a:ext cx="384048" cy="384048"/>
          </a:xfrm>
          <a:prstGeom prst="ellipse">
            <a:avLst/>
          </a:prstGeom>
          <a:solidFill>
            <a:srgbClr val="2E6DA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3"/>
          <p:cNvSpPr txBox="1"/>
          <p:nvPr/>
        </p:nvSpPr>
        <p:spPr>
          <a:xfrm>
            <a:off x="6647688" y="1563624"/>
            <a:ext cx="192024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1200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Remote Aggregation</a:t>
            </a:r>
            <a:endParaRPr/>
          </a:p>
        </p:txBody>
      </p:sp>
      <p:sp>
        <p:nvSpPr>
          <p:cNvPr id="147" name="Google Shape;147;p3"/>
          <p:cNvSpPr txBox="1"/>
          <p:nvPr/>
        </p:nvSpPr>
        <p:spPr>
          <a:xfrm>
            <a:off x="6172200" y="2011680"/>
            <a:ext cx="2423160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LoRa uplink sends readings to a central server for logging, dashboards, and building-wide analytics.</a:t>
            </a:r>
            <a:endParaRPr/>
          </a:p>
        </p:txBody>
      </p:sp>
      <p:sp>
        <p:nvSpPr>
          <p:cNvPr id="148" name="Google Shape;148;p3"/>
          <p:cNvSpPr/>
          <p:nvPr/>
        </p:nvSpPr>
        <p:spPr>
          <a:xfrm>
            <a:off x="347472" y="3154680"/>
            <a:ext cx="2651760" cy="157276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C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3"/>
          <p:cNvSpPr/>
          <p:nvPr/>
        </p:nvSpPr>
        <p:spPr>
          <a:xfrm>
            <a:off x="347472" y="3154680"/>
            <a:ext cx="2651760" cy="45720"/>
          </a:xfrm>
          <a:prstGeom prst="rect">
            <a:avLst/>
          </a:prstGeom>
          <a:solidFill>
            <a:srgbClr val="2E6DA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3"/>
          <p:cNvSpPr/>
          <p:nvPr/>
        </p:nvSpPr>
        <p:spPr>
          <a:xfrm>
            <a:off x="466344" y="3319272"/>
            <a:ext cx="384048" cy="384048"/>
          </a:xfrm>
          <a:prstGeom prst="ellipse">
            <a:avLst/>
          </a:prstGeom>
          <a:solidFill>
            <a:srgbClr val="2E6DA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3"/>
          <p:cNvSpPr txBox="1"/>
          <p:nvPr/>
        </p:nvSpPr>
        <p:spPr>
          <a:xfrm>
            <a:off x="941832" y="3300984"/>
            <a:ext cx="192024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1200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Edge Intelligence</a:t>
            </a:r>
            <a:endParaRPr/>
          </a:p>
        </p:txBody>
      </p:sp>
      <p:sp>
        <p:nvSpPr>
          <p:cNvPr id="152" name="Google Shape;152;p3"/>
          <p:cNvSpPr txBox="1"/>
          <p:nvPr/>
        </p:nvSpPr>
        <p:spPr>
          <a:xfrm>
            <a:off x="466344" y="3749040"/>
            <a:ext cx="2423160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The device can issues pre-alerts before an unsafe CO</a:t>
            </a:r>
            <a:r>
              <a:rPr baseline="30000" lang="it-IT" sz="12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it-IT" sz="12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 threshold is reached, even if there is no connection to a central server.</a:t>
            </a:r>
            <a:endParaRPr/>
          </a:p>
        </p:txBody>
      </p:sp>
      <p:sp>
        <p:nvSpPr>
          <p:cNvPr id="153" name="Google Shape;153;p3"/>
          <p:cNvSpPr/>
          <p:nvPr/>
        </p:nvSpPr>
        <p:spPr>
          <a:xfrm>
            <a:off x="3200400" y="3154680"/>
            <a:ext cx="2651760" cy="157276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C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3"/>
          <p:cNvSpPr/>
          <p:nvPr/>
        </p:nvSpPr>
        <p:spPr>
          <a:xfrm>
            <a:off x="3200400" y="3154680"/>
            <a:ext cx="2651760" cy="45720"/>
          </a:xfrm>
          <a:prstGeom prst="rect">
            <a:avLst/>
          </a:prstGeom>
          <a:solidFill>
            <a:srgbClr val="2E6DA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3"/>
          <p:cNvSpPr/>
          <p:nvPr/>
        </p:nvSpPr>
        <p:spPr>
          <a:xfrm>
            <a:off x="3319272" y="3319272"/>
            <a:ext cx="384048" cy="384048"/>
          </a:xfrm>
          <a:prstGeom prst="ellipse">
            <a:avLst/>
          </a:prstGeom>
          <a:solidFill>
            <a:srgbClr val="2E6DA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3"/>
          <p:cNvSpPr txBox="1"/>
          <p:nvPr/>
        </p:nvSpPr>
        <p:spPr>
          <a:xfrm>
            <a:off x="3794760" y="3318302"/>
            <a:ext cx="192024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1200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Ease of installation</a:t>
            </a:r>
            <a:endParaRPr b="1" i="0" sz="1200">
              <a:solidFill>
                <a:srgbClr val="1B3A5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3"/>
          <p:cNvSpPr txBox="1"/>
          <p:nvPr/>
        </p:nvSpPr>
        <p:spPr>
          <a:xfrm>
            <a:off x="3319272" y="3749040"/>
            <a:ext cx="2423160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12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The devices are full</a:t>
            </a:r>
            <a:r>
              <a:rPr lang="it-IT" sz="12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y battery operated and LoRa allows for reliable connections over long distances.</a:t>
            </a:r>
            <a:endParaRPr b="0" i="0" sz="1200">
              <a:solidFill>
                <a:srgbClr val="4A556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3"/>
          <p:cNvSpPr/>
          <p:nvPr/>
        </p:nvSpPr>
        <p:spPr>
          <a:xfrm>
            <a:off x="6053328" y="3154680"/>
            <a:ext cx="2651760" cy="157276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C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3"/>
          <p:cNvSpPr/>
          <p:nvPr/>
        </p:nvSpPr>
        <p:spPr>
          <a:xfrm>
            <a:off x="6053328" y="3154680"/>
            <a:ext cx="2651760" cy="45720"/>
          </a:xfrm>
          <a:prstGeom prst="rect">
            <a:avLst/>
          </a:prstGeom>
          <a:solidFill>
            <a:srgbClr val="2E6DA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3"/>
          <p:cNvSpPr/>
          <p:nvPr/>
        </p:nvSpPr>
        <p:spPr>
          <a:xfrm>
            <a:off x="6172200" y="3319272"/>
            <a:ext cx="384048" cy="384048"/>
          </a:xfrm>
          <a:prstGeom prst="ellipse">
            <a:avLst/>
          </a:prstGeom>
          <a:solidFill>
            <a:srgbClr val="2E6DA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3"/>
          <p:cNvSpPr txBox="1"/>
          <p:nvPr/>
        </p:nvSpPr>
        <p:spPr>
          <a:xfrm>
            <a:off x="6647688" y="3300984"/>
            <a:ext cx="192024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1200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Affordability</a:t>
            </a:r>
            <a:endParaRPr b="1" i="0" sz="1200">
              <a:solidFill>
                <a:srgbClr val="1B3A5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3"/>
          <p:cNvSpPr txBox="1"/>
          <p:nvPr/>
        </p:nvSpPr>
        <p:spPr>
          <a:xfrm>
            <a:off x="6172200" y="3749040"/>
            <a:ext cx="242316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12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Low component cost makes</a:t>
            </a:r>
            <a:r>
              <a:rPr lang="it-IT" sz="12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it-IT" sz="12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deployment practical even for large facilities.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6F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4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E6DA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4"/>
          <p:cNvSpPr/>
          <p:nvPr/>
        </p:nvSpPr>
        <p:spPr>
          <a:xfrm>
            <a:off x="457200" y="164591"/>
            <a:ext cx="1587500" cy="307777"/>
          </a:xfrm>
          <a:prstGeom prst="rect">
            <a:avLst/>
          </a:prstGeom>
          <a:solidFill>
            <a:srgbClr val="2E6DA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4"/>
          <p:cNvSpPr txBox="1"/>
          <p:nvPr/>
        </p:nvSpPr>
        <p:spPr>
          <a:xfrm>
            <a:off x="347472" y="174061"/>
            <a:ext cx="170180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APPROACH</a:t>
            </a:r>
            <a:endParaRPr b="1" i="0" sz="1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4"/>
          <p:cNvSpPr txBox="1"/>
          <p:nvPr/>
        </p:nvSpPr>
        <p:spPr>
          <a:xfrm>
            <a:off x="457200" y="502920"/>
            <a:ext cx="822960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28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Example deployment</a:t>
            </a:r>
            <a:endParaRPr b="1" i="0" sz="2800">
              <a:solidFill>
                <a:srgbClr val="0D1B2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2" name="Google Shape;17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36539" y="472368"/>
            <a:ext cx="5915621" cy="44664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5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9A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5"/>
          <p:cNvSpPr/>
          <p:nvPr/>
        </p:nvSpPr>
        <p:spPr>
          <a:xfrm>
            <a:off x="411480" y="150876"/>
            <a:ext cx="1508760" cy="338328"/>
          </a:xfrm>
          <a:prstGeom prst="rect">
            <a:avLst/>
          </a:prstGeom>
          <a:solidFill>
            <a:srgbClr val="00C9A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5"/>
          <p:cNvSpPr txBox="1"/>
          <p:nvPr/>
        </p:nvSpPr>
        <p:spPr>
          <a:xfrm>
            <a:off x="466344" y="164366"/>
            <a:ext cx="137160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14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SENSOR</a:t>
            </a:r>
            <a:endParaRPr/>
          </a:p>
        </p:txBody>
      </p:sp>
      <p:sp>
        <p:nvSpPr>
          <p:cNvPr id="182" name="Google Shape;182;p5"/>
          <p:cNvSpPr txBox="1"/>
          <p:nvPr/>
        </p:nvSpPr>
        <p:spPr>
          <a:xfrm>
            <a:off x="457200" y="502920"/>
            <a:ext cx="822960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Sensirion SCD41</a:t>
            </a:r>
            <a:endParaRPr/>
          </a:p>
        </p:txBody>
      </p:sp>
      <p:sp>
        <p:nvSpPr>
          <p:cNvPr id="183" name="Google Shape;183;p5"/>
          <p:cNvSpPr/>
          <p:nvPr/>
        </p:nvSpPr>
        <p:spPr>
          <a:xfrm>
            <a:off x="365760" y="1534407"/>
            <a:ext cx="3703320" cy="2971800"/>
          </a:xfrm>
          <a:prstGeom prst="rect">
            <a:avLst/>
          </a:prstGeom>
          <a:solidFill>
            <a:srgbClr val="13233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5"/>
          <p:cNvSpPr/>
          <p:nvPr/>
        </p:nvSpPr>
        <p:spPr>
          <a:xfrm>
            <a:off x="411480" y="1673352"/>
            <a:ext cx="54864" cy="292608"/>
          </a:xfrm>
          <a:prstGeom prst="rect">
            <a:avLst/>
          </a:prstGeom>
          <a:solidFill>
            <a:srgbClr val="00C9A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5"/>
          <p:cNvSpPr txBox="1"/>
          <p:nvPr/>
        </p:nvSpPr>
        <p:spPr>
          <a:xfrm>
            <a:off x="566928" y="1600200"/>
            <a:ext cx="13716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1200">
                <a:solidFill>
                  <a:srgbClr val="8BA3B8"/>
                </a:solidFill>
                <a:latin typeface="Calibri"/>
                <a:ea typeface="Calibri"/>
                <a:cs typeface="Calibri"/>
                <a:sym typeface="Calibri"/>
              </a:rPr>
              <a:t>CO₂ Range</a:t>
            </a:r>
            <a:endParaRPr/>
          </a:p>
        </p:txBody>
      </p:sp>
      <p:sp>
        <p:nvSpPr>
          <p:cNvPr id="186" name="Google Shape;186;p5"/>
          <p:cNvSpPr txBox="1"/>
          <p:nvPr/>
        </p:nvSpPr>
        <p:spPr>
          <a:xfrm>
            <a:off x="1965960" y="1600200"/>
            <a:ext cx="210312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400 – 5,000 ppm</a:t>
            </a:r>
            <a:endParaRPr/>
          </a:p>
        </p:txBody>
      </p:sp>
      <p:sp>
        <p:nvSpPr>
          <p:cNvPr id="187" name="Google Shape;187;p5"/>
          <p:cNvSpPr/>
          <p:nvPr/>
        </p:nvSpPr>
        <p:spPr>
          <a:xfrm>
            <a:off x="411480" y="2176272"/>
            <a:ext cx="54864" cy="292608"/>
          </a:xfrm>
          <a:prstGeom prst="rect">
            <a:avLst/>
          </a:prstGeom>
          <a:solidFill>
            <a:srgbClr val="00C9A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5"/>
          <p:cNvSpPr txBox="1"/>
          <p:nvPr/>
        </p:nvSpPr>
        <p:spPr>
          <a:xfrm>
            <a:off x="566928" y="2103120"/>
            <a:ext cx="1371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1200">
                <a:solidFill>
                  <a:srgbClr val="8BA3B8"/>
                </a:solidFill>
                <a:latin typeface="Calibri"/>
                <a:ea typeface="Calibri"/>
                <a:cs typeface="Calibri"/>
                <a:sym typeface="Calibri"/>
              </a:rPr>
              <a:t>Temperature</a:t>
            </a:r>
            <a:endParaRPr/>
          </a:p>
        </p:txBody>
      </p:sp>
      <p:sp>
        <p:nvSpPr>
          <p:cNvPr id="189" name="Google Shape;189;p5"/>
          <p:cNvSpPr txBox="1"/>
          <p:nvPr/>
        </p:nvSpPr>
        <p:spPr>
          <a:xfrm>
            <a:off x="1965960" y="2103120"/>
            <a:ext cx="210312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−10°C to +60°C  (±0.8°C)</a:t>
            </a:r>
            <a:endParaRPr/>
          </a:p>
        </p:txBody>
      </p:sp>
      <p:sp>
        <p:nvSpPr>
          <p:cNvPr id="190" name="Google Shape;190;p5"/>
          <p:cNvSpPr/>
          <p:nvPr/>
        </p:nvSpPr>
        <p:spPr>
          <a:xfrm>
            <a:off x="411480" y="2679192"/>
            <a:ext cx="54864" cy="292608"/>
          </a:xfrm>
          <a:prstGeom prst="rect">
            <a:avLst/>
          </a:prstGeom>
          <a:solidFill>
            <a:srgbClr val="00C9A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5"/>
          <p:cNvSpPr txBox="1"/>
          <p:nvPr/>
        </p:nvSpPr>
        <p:spPr>
          <a:xfrm>
            <a:off x="566928" y="2606040"/>
            <a:ext cx="1371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1200">
                <a:solidFill>
                  <a:srgbClr val="8BA3B8"/>
                </a:solidFill>
                <a:latin typeface="Calibri"/>
                <a:ea typeface="Calibri"/>
                <a:cs typeface="Calibri"/>
                <a:sym typeface="Calibri"/>
              </a:rPr>
              <a:t>Humidity</a:t>
            </a:r>
            <a:endParaRPr/>
          </a:p>
        </p:txBody>
      </p:sp>
      <p:sp>
        <p:nvSpPr>
          <p:cNvPr id="192" name="Google Shape;192;p5"/>
          <p:cNvSpPr txBox="1"/>
          <p:nvPr/>
        </p:nvSpPr>
        <p:spPr>
          <a:xfrm>
            <a:off x="1965960" y="2606040"/>
            <a:ext cx="2103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0–100% RH  (±6% RH)</a:t>
            </a:r>
            <a:endParaRPr/>
          </a:p>
        </p:txBody>
      </p:sp>
      <p:sp>
        <p:nvSpPr>
          <p:cNvPr id="193" name="Google Shape;193;p5"/>
          <p:cNvSpPr/>
          <p:nvPr/>
        </p:nvSpPr>
        <p:spPr>
          <a:xfrm>
            <a:off x="411480" y="3182112"/>
            <a:ext cx="54864" cy="292608"/>
          </a:xfrm>
          <a:prstGeom prst="rect">
            <a:avLst/>
          </a:prstGeom>
          <a:solidFill>
            <a:srgbClr val="00C9A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5"/>
          <p:cNvSpPr txBox="1"/>
          <p:nvPr/>
        </p:nvSpPr>
        <p:spPr>
          <a:xfrm>
            <a:off x="566928" y="3108960"/>
            <a:ext cx="1371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1200">
                <a:solidFill>
                  <a:srgbClr val="8BA3B8"/>
                </a:solidFill>
                <a:latin typeface="Calibri"/>
                <a:ea typeface="Calibri"/>
                <a:cs typeface="Calibri"/>
                <a:sym typeface="Calibri"/>
              </a:rPr>
              <a:t>Interface</a:t>
            </a:r>
            <a:endParaRPr/>
          </a:p>
        </p:txBody>
      </p:sp>
      <p:sp>
        <p:nvSpPr>
          <p:cNvPr id="195" name="Google Shape;195;p5"/>
          <p:cNvSpPr txBox="1"/>
          <p:nvPr/>
        </p:nvSpPr>
        <p:spPr>
          <a:xfrm>
            <a:off x="1965960" y="3108960"/>
            <a:ext cx="210312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I²C</a:t>
            </a:r>
            <a:endParaRPr/>
          </a:p>
        </p:txBody>
      </p:sp>
      <p:sp>
        <p:nvSpPr>
          <p:cNvPr id="196" name="Google Shape;196;p5"/>
          <p:cNvSpPr/>
          <p:nvPr/>
        </p:nvSpPr>
        <p:spPr>
          <a:xfrm>
            <a:off x="411480" y="3685032"/>
            <a:ext cx="54864" cy="292608"/>
          </a:xfrm>
          <a:prstGeom prst="rect">
            <a:avLst/>
          </a:prstGeom>
          <a:solidFill>
            <a:srgbClr val="00C9A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5"/>
          <p:cNvSpPr txBox="1"/>
          <p:nvPr/>
        </p:nvSpPr>
        <p:spPr>
          <a:xfrm>
            <a:off x="566928" y="3611880"/>
            <a:ext cx="13716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1200">
                <a:solidFill>
                  <a:srgbClr val="8BA3B8"/>
                </a:solidFill>
                <a:latin typeface="Calibri"/>
                <a:ea typeface="Calibri"/>
                <a:cs typeface="Calibri"/>
                <a:sym typeface="Calibri"/>
              </a:rPr>
              <a:t>Power Consumption</a:t>
            </a:r>
            <a:endParaRPr b="1" sz="1200">
              <a:solidFill>
                <a:srgbClr val="8BA3B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5"/>
          <p:cNvSpPr txBox="1"/>
          <p:nvPr/>
        </p:nvSpPr>
        <p:spPr>
          <a:xfrm>
            <a:off x="1965960" y="3611880"/>
            <a:ext cx="210312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Adjustable via software</a:t>
            </a:r>
            <a:endParaRPr b="0" i="0" sz="1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5"/>
          <p:cNvSpPr txBox="1"/>
          <p:nvPr/>
        </p:nvSpPr>
        <p:spPr>
          <a:xfrm>
            <a:off x="4572000" y="1379067"/>
            <a:ext cx="4297680" cy="2923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1300">
                <a:solidFill>
                  <a:srgbClr val="00C9A7"/>
                </a:solidFill>
                <a:latin typeface="Calibri"/>
                <a:ea typeface="Calibri"/>
                <a:cs typeface="Calibri"/>
                <a:sym typeface="Calibri"/>
              </a:rPr>
              <a:t>Data Transmitted</a:t>
            </a:r>
            <a:endParaRPr b="1" i="0" sz="1300">
              <a:solidFill>
                <a:srgbClr val="00C9A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5"/>
          <p:cNvSpPr/>
          <p:nvPr/>
        </p:nvSpPr>
        <p:spPr>
          <a:xfrm>
            <a:off x="4572000" y="1751183"/>
            <a:ext cx="54864" cy="320040"/>
          </a:xfrm>
          <a:prstGeom prst="rect">
            <a:avLst/>
          </a:prstGeom>
          <a:solidFill>
            <a:srgbClr val="E8384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5"/>
          <p:cNvSpPr txBox="1"/>
          <p:nvPr/>
        </p:nvSpPr>
        <p:spPr>
          <a:xfrm>
            <a:off x="4681728" y="1714607"/>
            <a:ext cx="13716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CO₂</a:t>
            </a:r>
            <a:endParaRPr/>
          </a:p>
        </p:txBody>
      </p:sp>
      <p:sp>
        <p:nvSpPr>
          <p:cNvPr id="202" name="Google Shape;202;p5"/>
          <p:cNvSpPr txBox="1"/>
          <p:nvPr/>
        </p:nvSpPr>
        <p:spPr>
          <a:xfrm>
            <a:off x="6080760" y="1714607"/>
            <a:ext cx="27432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1200">
                <a:solidFill>
                  <a:srgbClr val="8BA3B8"/>
                </a:solidFill>
                <a:latin typeface="Calibri"/>
                <a:ea typeface="Calibri"/>
                <a:cs typeface="Calibri"/>
                <a:sym typeface="Calibri"/>
              </a:rPr>
              <a:t>Parts per million (ppm)</a:t>
            </a:r>
            <a:endParaRPr/>
          </a:p>
        </p:txBody>
      </p:sp>
      <p:sp>
        <p:nvSpPr>
          <p:cNvPr id="203" name="Google Shape;203;p5"/>
          <p:cNvSpPr/>
          <p:nvPr/>
        </p:nvSpPr>
        <p:spPr>
          <a:xfrm>
            <a:off x="4572000" y="2254103"/>
            <a:ext cx="54864" cy="320040"/>
          </a:xfrm>
          <a:prstGeom prst="rect">
            <a:avLst/>
          </a:prstGeom>
          <a:solidFill>
            <a:srgbClr val="F5A62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5"/>
          <p:cNvSpPr txBox="1"/>
          <p:nvPr/>
        </p:nvSpPr>
        <p:spPr>
          <a:xfrm>
            <a:off x="4681728" y="2217527"/>
            <a:ext cx="13716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Temperature</a:t>
            </a:r>
            <a:endParaRPr/>
          </a:p>
        </p:txBody>
      </p:sp>
      <p:sp>
        <p:nvSpPr>
          <p:cNvPr id="205" name="Google Shape;205;p5"/>
          <p:cNvSpPr txBox="1"/>
          <p:nvPr/>
        </p:nvSpPr>
        <p:spPr>
          <a:xfrm>
            <a:off x="6080760" y="2217527"/>
            <a:ext cx="27432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1200">
                <a:solidFill>
                  <a:srgbClr val="8BA3B8"/>
                </a:solidFill>
                <a:latin typeface="Calibri"/>
                <a:ea typeface="Calibri"/>
                <a:cs typeface="Calibri"/>
                <a:sym typeface="Calibri"/>
              </a:rPr>
              <a:t>°C — comfort indicator</a:t>
            </a:r>
            <a:endParaRPr b="0" i="0" sz="1200">
              <a:solidFill>
                <a:srgbClr val="8BA3B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5"/>
          <p:cNvSpPr/>
          <p:nvPr/>
        </p:nvSpPr>
        <p:spPr>
          <a:xfrm>
            <a:off x="4572000" y="2757024"/>
            <a:ext cx="54864" cy="320040"/>
          </a:xfrm>
          <a:prstGeom prst="rect">
            <a:avLst/>
          </a:prstGeom>
          <a:solidFill>
            <a:srgbClr val="2E6DA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5"/>
          <p:cNvSpPr txBox="1"/>
          <p:nvPr/>
        </p:nvSpPr>
        <p:spPr>
          <a:xfrm>
            <a:off x="4681728" y="2720448"/>
            <a:ext cx="13716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Humidity</a:t>
            </a:r>
            <a:endParaRPr/>
          </a:p>
        </p:txBody>
      </p:sp>
      <p:sp>
        <p:nvSpPr>
          <p:cNvPr id="208" name="Google Shape;208;p5"/>
          <p:cNvSpPr txBox="1"/>
          <p:nvPr/>
        </p:nvSpPr>
        <p:spPr>
          <a:xfrm>
            <a:off x="6080760" y="2720448"/>
            <a:ext cx="27432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1200">
                <a:solidFill>
                  <a:srgbClr val="8BA3B8"/>
                </a:solidFill>
                <a:latin typeface="Calibri"/>
                <a:ea typeface="Calibri"/>
                <a:cs typeface="Calibri"/>
                <a:sym typeface="Calibri"/>
              </a:rPr>
              <a:t>% RH — comfort and air quality indicator</a:t>
            </a:r>
            <a:endParaRPr/>
          </a:p>
        </p:txBody>
      </p:sp>
      <p:sp>
        <p:nvSpPr>
          <p:cNvPr id="209" name="Google Shape;209;p5"/>
          <p:cNvSpPr/>
          <p:nvPr/>
        </p:nvSpPr>
        <p:spPr>
          <a:xfrm>
            <a:off x="4572000" y="3259944"/>
            <a:ext cx="54864" cy="320040"/>
          </a:xfrm>
          <a:prstGeom prst="rect">
            <a:avLst/>
          </a:prstGeom>
          <a:solidFill>
            <a:srgbClr val="00C9A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5"/>
          <p:cNvSpPr txBox="1"/>
          <p:nvPr/>
        </p:nvSpPr>
        <p:spPr>
          <a:xfrm>
            <a:off x="4681728" y="3223368"/>
            <a:ext cx="13716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Timestamp</a:t>
            </a:r>
            <a:endParaRPr/>
          </a:p>
        </p:txBody>
      </p:sp>
      <p:sp>
        <p:nvSpPr>
          <p:cNvPr id="211" name="Google Shape;211;p5"/>
          <p:cNvSpPr/>
          <p:nvPr/>
        </p:nvSpPr>
        <p:spPr>
          <a:xfrm>
            <a:off x="4572000" y="3762864"/>
            <a:ext cx="54864" cy="320040"/>
          </a:xfrm>
          <a:prstGeom prst="rect">
            <a:avLst/>
          </a:prstGeom>
          <a:solidFill>
            <a:srgbClr val="00C9A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5"/>
          <p:cNvSpPr txBox="1"/>
          <p:nvPr/>
        </p:nvSpPr>
        <p:spPr>
          <a:xfrm>
            <a:off x="4681728" y="3726288"/>
            <a:ext cx="13716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Node ID</a:t>
            </a:r>
            <a:endParaRPr/>
          </a:p>
        </p:txBody>
      </p:sp>
      <p:sp>
        <p:nvSpPr>
          <p:cNvPr id="213" name="Google Shape;213;p5"/>
          <p:cNvSpPr txBox="1"/>
          <p:nvPr/>
        </p:nvSpPr>
        <p:spPr>
          <a:xfrm>
            <a:off x="6080760" y="3726288"/>
            <a:ext cx="27432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1200">
                <a:solidFill>
                  <a:srgbClr val="8BA3B8"/>
                </a:solidFill>
                <a:latin typeface="Calibri"/>
                <a:ea typeface="Calibri"/>
                <a:cs typeface="Calibri"/>
                <a:sym typeface="Calibri"/>
              </a:rPr>
              <a:t>Device identifier for multi-room deployments</a:t>
            </a:r>
            <a:r>
              <a:rPr lang="it-IT" sz="1200">
                <a:solidFill>
                  <a:srgbClr val="8BA3B8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200">
              <a:solidFill>
                <a:srgbClr val="8BA3B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5"/>
          <p:cNvSpPr/>
          <p:nvPr/>
        </p:nvSpPr>
        <p:spPr>
          <a:xfrm>
            <a:off x="4572000" y="4265784"/>
            <a:ext cx="54864" cy="320040"/>
          </a:xfrm>
          <a:prstGeom prst="rect">
            <a:avLst/>
          </a:prstGeom>
          <a:solidFill>
            <a:srgbClr val="F5A62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5"/>
          <p:cNvSpPr txBox="1"/>
          <p:nvPr/>
        </p:nvSpPr>
        <p:spPr>
          <a:xfrm>
            <a:off x="4681728" y="4229208"/>
            <a:ext cx="13716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Battery</a:t>
            </a:r>
            <a:endParaRPr/>
          </a:p>
        </p:txBody>
      </p:sp>
      <p:sp>
        <p:nvSpPr>
          <p:cNvPr id="216" name="Google Shape;216;p5"/>
          <p:cNvSpPr txBox="1"/>
          <p:nvPr/>
        </p:nvSpPr>
        <p:spPr>
          <a:xfrm>
            <a:off x="6080760" y="4229208"/>
            <a:ext cx="27432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1200">
                <a:solidFill>
                  <a:srgbClr val="8BA3B8"/>
                </a:solidFill>
                <a:latin typeface="Calibri"/>
                <a:ea typeface="Calibri"/>
                <a:cs typeface="Calibri"/>
                <a:sym typeface="Calibri"/>
              </a:rPr>
              <a:t>Estimated battery voltage</a:t>
            </a:r>
            <a:endParaRPr/>
          </a:p>
        </p:txBody>
      </p:sp>
      <p:pic>
        <p:nvPicPr>
          <p:cNvPr id="217" name="Google Shape;217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19114" y="298973"/>
            <a:ext cx="1352886" cy="845554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5"/>
          <p:cNvSpPr txBox="1"/>
          <p:nvPr/>
        </p:nvSpPr>
        <p:spPr>
          <a:xfrm>
            <a:off x="365760" y="4633622"/>
            <a:ext cx="3703320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00" u="sng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Sensirion’s SCD41 datasheet</a:t>
            </a: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6F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6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9A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6"/>
          <p:cNvSpPr/>
          <p:nvPr/>
        </p:nvSpPr>
        <p:spPr>
          <a:xfrm>
            <a:off x="457200" y="164592"/>
            <a:ext cx="1447800" cy="338328"/>
          </a:xfrm>
          <a:prstGeom prst="rect">
            <a:avLst/>
          </a:prstGeom>
          <a:solidFill>
            <a:srgbClr val="00C9A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6"/>
          <p:cNvSpPr txBox="1"/>
          <p:nvPr/>
        </p:nvSpPr>
        <p:spPr>
          <a:xfrm>
            <a:off x="557784" y="184439"/>
            <a:ext cx="128016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14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INTELLIGENCE</a:t>
            </a:r>
            <a:endParaRPr/>
          </a:p>
        </p:txBody>
      </p:sp>
      <p:sp>
        <p:nvSpPr>
          <p:cNvPr id="228" name="Google Shape;228;p6"/>
          <p:cNvSpPr txBox="1"/>
          <p:nvPr/>
        </p:nvSpPr>
        <p:spPr>
          <a:xfrm>
            <a:off x="274320" y="715621"/>
            <a:ext cx="822960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28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Data Processing</a:t>
            </a:r>
            <a:endParaRPr/>
          </a:p>
        </p:txBody>
      </p:sp>
      <p:sp>
        <p:nvSpPr>
          <p:cNvPr id="229" name="Google Shape;229;p6"/>
          <p:cNvSpPr/>
          <p:nvPr/>
        </p:nvSpPr>
        <p:spPr>
          <a:xfrm>
            <a:off x="365760" y="1344167"/>
            <a:ext cx="4023360" cy="3685033"/>
          </a:xfrm>
          <a:prstGeom prst="rect">
            <a:avLst/>
          </a:prstGeom>
          <a:solidFill>
            <a:srgbClr val="13233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6"/>
          <p:cNvSpPr/>
          <p:nvPr/>
        </p:nvSpPr>
        <p:spPr>
          <a:xfrm>
            <a:off x="365760" y="1344168"/>
            <a:ext cx="402336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6"/>
          <p:cNvSpPr txBox="1"/>
          <p:nvPr/>
        </p:nvSpPr>
        <p:spPr>
          <a:xfrm>
            <a:off x="768096" y="1415043"/>
            <a:ext cx="338328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1200">
                <a:solidFill>
                  <a:srgbClr val="00C9A7"/>
                </a:solidFill>
                <a:latin typeface="Calibri"/>
                <a:ea typeface="Calibri"/>
                <a:cs typeface="Calibri"/>
                <a:sym typeface="Calibri"/>
              </a:rPr>
              <a:t>On-Device (ESP32S3)</a:t>
            </a:r>
            <a:endParaRPr/>
          </a:p>
        </p:txBody>
      </p:sp>
      <p:sp>
        <p:nvSpPr>
          <p:cNvPr id="232" name="Google Shape;232;p6"/>
          <p:cNvSpPr/>
          <p:nvPr/>
        </p:nvSpPr>
        <p:spPr>
          <a:xfrm>
            <a:off x="457200" y="1891248"/>
            <a:ext cx="201168" cy="201168"/>
          </a:xfrm>
          <a:prstGeom prst="ellipse">
            <a:avLst/>
          </a:prstGeom>
          <a:solidFill>
            <a:srgbClr val="00C9A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6"/>
          <p:cNvSpPr/>
          <p:nvPr/>
        </p:nvSpPr>
        <p:spPr>
          <a:xfrm>
            <a:off x="458163" y="2580077"/>
            <a:ext cx="201168" cy="201168"/>
          </a:xfrm>
          <a:prstGeom prst="ellipse">
            <a:avLst/>
          </a:prstGeom>
          <a:solidFill>
            <a:srgbClr val="00C9A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6"/>
          <p:cNvSpPr txBox="1"/>
          <p:nvPr/>
        </p:nvSpPr>
        <p:spPr>
          <a:xfrm>
            <a:off x="777240" y="1836223"/>
            <a:ext cx="347472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1" i="0" lang="it-IT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ata visualization</a:t>
            </a:r>
            <a:endParaRPr b="1" i="0" sz="1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6"/>
          <p:cNvSpPr txBox="1"/>
          <p:nvPr/>
        </p:nvSpPr>
        <p:spPr>
          <a:xfrm>
            <a:off x="777240" y="2061573"/>
            <a:ext cx="347472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>
                <a:solidFill>
                  <a:srgbClr val="8BA3B8"/>
                </a:solidFill>
                <a:latin typeface="Calibri"/>
                <a:ea typeface="Calibri"/>
                <a:cs typeface="Calibri"/>
                <a:sym typeface="Calibri"/>
              </a:rPr>
              <a:t>Provide simple analytics on air quality on the device’s screen (on user’s demand).</a:t>
            </a:r>
            <a:endParaRPr b="0" i="0" sz="1200">
              <a:solidFill>
                <a:srgbClr val="8BA3B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6"/>
          <p:cNvSpPr txBox="1"/>
          <p:nvPr/>
        </p:nvSpPr>
        <p:spPr>
          <a:xfrm>
            <a:off x="750771" y="3215475"/>
            <a:ext cx="347472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Pre-alert logic</a:t>
            </a:r>
            <a:endParaRPr/>
          </a:p>
        </p:txBody>
      </p:sp>
      <p:sp>
        <p:nvSpPr>
          <p:cNvPr id="237" name="Google Shape;237;p6"/>
          <p:cNvSpPr txBox="1"/>
          <p:nvPr/>
        </p:nvSpPr>
        <p:spPr>
          <a:xfrm>
            <a:off x="750771" y="3442994"/>
            <a:ext cx="347472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1200">
                <a:solidFill>
                  <a:srgbClr val="8BA3B8"/>
                </a:solidFill>
                <a:latin typeface="Calibri"/>
                <a:ea typeface="Calibri"/>
                <a:cs typeface="Calibri"/>
                <a:sym typeface="Calibri"/>
              </a:rPr>
              <a:t>If projected trend crosses safety threshold within a certain time → issue pre-alert.</a:t>
            </a:r>
            <a:endParaRPr/>
          </a:p>
        </p:txBody>
      </p:sp>
      <p:sp>
        <p:nvSpPr>
          <p:cNvPr id="238" name="Google Shape;238;p6"/>
          <p:cNvSpPr/>
          <p:nvPr/>
        </p:nvSpPr>
        <p:spPr>
          <a:xfrm>
            <a:off x="458163" y="3260951"/>
            <a:ext cx="201168" cy="201168"/>
          </a:xfrm>
          <a:prstGeom prst="ellipse">
            <a:avLst/>
          </a:prstGeom>
          <a:solidFill>
            <a:srgbClr val="00C9A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6"/>
          <p:cNvSpPr txBox="1"/>
          <p:nvPr/>
        </p:nvSpPr>
        <p:spPr>
          <a:xfrm>
            <a:off x="750771" y="2519498"/>
            <a:ext cx="347472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Simple status updates</a:t>
            </a:r>
            <a:endParaRPr b="1" i="0" sz="1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6"/>
          <p:cNvSpPr txBox="1"/>
          <p:nvPr/>
        </p:nvSpPr>
        <p:spPr>
          <a:xfrm>
            <a:off x="749808" y="2718663"/>
            <a:ext cx="347472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1200">
                <a:solidFill>
                  <a:srgbClr val="8BA3B8"/>
                </a:solidFill>
                <a:latin typeface="Calibri"/>
                <a:ea typeface="Calibri"/>
                <a:cs typeface="Calibri"/>
                <a:sym typeface="Calibri"/>
              </a:rPr>
              <a:t>Air quality values mapped to easily understandable color and soun</a:t>
            </a:r>
            <a:r>
              <a:rPr lang="it-IT" sz="1200">
                <a:solidFill>
                  <a:srgbClr val="8BA3B8"/>
                </a:solidFill>
                <a:latin typeface="Calibri"/>
                <a:ea typeface="Calibri"/>
                <a:cs typeface="Calibri"/>
                <a:sym typeface="Calibri"/>
              </a:rPr>
              <a:t>d cues</a:t>
            </a:r>
            <a:r>
              <a:rPr b="0" i="0" lang="it-IT" sz="1200">
                <a:solidFill>
                  <a:srgbClr val="8BA3B8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</p:txBody>
      </p:sp>
      <p:sp>
        <p:nvSpPr>
          <p:cNvPr id="241" name="Google Shape;241;p6"/>
          <p:cNvSpPr/>
          <p:nvPr/>
        </p:nvSpPr>
        <p:spPr>
          <a:xfrm>
            <a:off x="455894" y="3926795"/>
            <a:ext cx="201168" cy="201168"/>
          </a:xfrm>
          <a:prstGeom prst="ellipse">
            <a:avLst/>
          </a:prstGeom>
          <a:solidFill>
            <a:srgbClr val="00C9A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6"/>
          <p:cNvSpPr txBox="1"/>
          <p:nvPr/>
        </p:nvSpPr>
        <p:spPr>
          <a:xfrm>
            <a:off x="748502" y="3885999"/>
            <a:ext cx="347472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Adaptive sampling</a:t>
            </a:r>
            <a:endParaRPr/>
          </a:p>
        </p:txBody>
      </p:sp>
      <p:sp>
        <p:nvSpPr>
          <p:cNvPr id="243" name="Google Shape;243;p6"/>
          <p:cNvSpPr txBox="1"/>
          <p:nvPr/>
        </p:nvSpPr>
        <p:spPr>
          <a:xfrm>
            <a:off x="758952" y="4116831"/>
            <a:ext cx="347472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1200">
                <a:solidFill>
                  <a:srgbClr val="8BA3B8"/>
                </a:solidFill>
                <a:latin typeface="Calibri"/>
                <a:ea typeface="Calibri"/>
                <a:cs typeface="Calibri"/>
                <a:sym typeface="Calibri"/>
              </a:rPr>
              <a:t>Sampling frequency is higher when CO</a:t>
            </a:r>
            <a:r>
              <a:rPr b="0" baseline="-25000" i="0" lang="it-IT" sz="1200">
                <a:solidFill>
                  <a:srgbClr val="8BA3B8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0" i="0" lang="it-IT" sz="1200">
                <a:solidFill>
                  <a:srgbClr val="8BA3B8"/>
                </a:solidFill>
                <a:latin typeface="Calibri"/>
                <a:ea typeface="Calibri"/>
                <a:cs typeface="Calibri"/>
                <a:sym typeface="Calibri"/>
              </a:rPr>
              <a:t> levels are </a:t>
            </a:r>
            <a:r>
              <a:rPr lang="it-IT" sz="1200">
                <a:solidFill>
                  <a:srgbClr val="8BA3B8"/>
                </a:solidFill>
                <a:latin typeface="Calibri"/>
                <a:ea typeface="Calibri"/>
                <a:cs typeface="Calibri"/>
                <a:sym typeface="Calibri"/>
              </a:rPr>
              <a:t>above the optimal range, otherwise sampling frequency is greatly reduced to save power</a:t>
            </a:r>
            <a:r>
              <a:rPr b="0" i="0" lang="it-IT" sz="1200">
                <a:solidFill>
                  <a:srgbClr val="8BA3B8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</p:txBody>
      </p:sp>
      <p:sp>
        <p:nvSpPr>
          <p:cNvPr id="244" name="Google Shape;244;p6"/>
          <p:cNvSpPr/>
          <p:nvPr/>
        </p:nvSpPr>
        <p:spPr>
          <a:xfrm>
            <a:off x="4709160" y="1344168"/>
            <a:ext cx="4069080" cy="368503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C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6"/>
          <p:cNvSpPr/>
          <p:nvPr/>
        </p:nvSpPr>
        <p:spPr>
          <a:xfrm>
            <a:off x="4709160" y="1344066"/>
            <a:ext cx="4069080" cy="45720"/>
          </a:xfrm>
          <a:prstGeom prst="rect">
            <a:avLst/>
          </a:prstGeom>
          <a:solidFill>
            <a:srgbClr val="2E6DA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6"/>
          <p:cNvSpPr txBox="1"/>
          <p:nvPr/>
        </p:nvSpPr>
        <p:spPr>
          <a:xfrm>
            <a:off x="5166360" y="1508760"/>
            <a:ext cx="3474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1300">
                <a:solidFill>
                  <a:srgbClr val="2E6DA4"/>
                </a:solidFill>
                <a:latin typeface="Calibri"/>
                <a:ea typeface="Calibri"/>
                <a:cs typeface="Calibri"/>
                <a:sym typeface="Calibri"/>
              </a:rPr>
              <a:t>Server-Side Analytics</a:t>
            </a:r>
            <a:endParaRPr/>
          </a:p>
        </p:txBody>
      </p:sp>
      <p:sp>
        <p:nvSpPr>
          <p:cNvPr id="247" name="Google Shape;247;p6"/>
          <p:cNvSpPr/>
          <p:nvPr/>
        </p:nvSpPr>
        <p:spPr>
          <a:xfrm>
            <a:off x="4836179" y="1969603"/>
            <a:ext cx="201168" cy="201168"/>
          </a:xfrm>
          <a:prstGeom prst="ellipse">
            <a:avLst/>
          </a:prstGeom>
          <a:solidFill>
            <a:srgbClr val="2E6DA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6"/>
          <p:cNvSpPr txBox="1"/>
          <p:nvPr/>
        </p:nvSpPr>
        <p:spPr>
          <a:xfrm>
            <a:off x="5138928" y="1925758"/>
            <a:ext cx="352044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1200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Time-series storage</a:t>
            </a:r>
            <a:endParaRPr/>
          </a:p>
        </p:txBody>
      </p:sp>
      <p:sp>
        <p:nvSpPr>
          <p:cNvPr id="249" name="Google Shape;249;p6"/>
          <p:cNvSpPr txBox="1"/>
          <p:nvPr/>
        </p:nvSpPr>
        <p:spPr>
          <a:xfrm>
            <a:off x="5148072" y="2126541"/>
            <a:ext cx="352044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12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Historical plots of CO₂, temp, humidity per room and per node.</a:t>
            </a:r>
            <a:endParaRPr/>
          </a:p>
        </p:txBody>
      </p:sp>
      <p:sp>
        <p:nvSpPr>
          <p:cNvPr id="250" name="Google Shape;250;p6"/>
          <p:cNvSpPr/>
          <p:nvPr/>
        </p:nvSpPr>
        <p:spPr>
          <a:xfrm>
            <a:off x="4840889" y="2627755"/>
            <a:ext cx="201168" cy="201168"/>
          </a:xfrm>
          <a:prstGeom prst="ellipse">
            <a:avLst/>
          </a:prstGeom>
          <a:solidFill>
            <a:srgbClr val="2E6DA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6"/>
          <p:cNvSpPr txBox="1"/>
          <p:nvPr/>
        </p:nvSpPr>
        <p:spPr>
          <a:xfrm>
            <a:off x="5114693" y="2589839"/>
            <a:ext cx="352044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1200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Occupancy detection</a:t>
            </a:r>
            <a:endParaRPr b="1" i="0" sz="1200">
              <a:solidFill>
                <a:srgbClr val="1B3A5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6"/>
          <p:cNvSpPr txBox="1"/>
          <p:nvPr/>
        </p:nvSpPr>
        <p:spPr>
          <a:xfrm>
            <a:off x="5120640" y="2781245"/>
            <a:ext cx="352044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12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Link CO</a:t>
            </a:r>
            <a:r>
              <a:rPr b="0" baseline="-25000" i="0" lang="it-IT" sz="12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0" i="0" lang="it-IT" sz="12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 levels to room occupancy. Automatically </a:t>
            </a:r>
            <a:r>
              <a:rPr lang="it-IT" sz="12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0" lang="it-IT" sz="12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ctivate air ventilation or AC where necessary.</a:t>
            </a:r>
            <a:endParaRPr b="0" i="0" sz="1200">
              <a:solidFill>
                <a:srgbClr val="4A556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6"/>
          <p:cNvSpPr/>
          <p:nvPr/>
        </p:nvSpPr>
        <p:spPr>
          <a:xfrm>
            <a:off x="4836179" y="3285824"/>
            <a:ext cx="201168" cy="201168"/>
          </a:xfrm>
          <a:prstGeom prst="ellipse">
            <a:avLst/>
          </a:prstGeom>
          <a:solidFill>
            <a:srgbClr val="2E6DA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6"/>
          <p:cNvSpPr txBox="1"/>
          <p:nvPr/>
        </p:nvSpPr>
        <p:spPr>
          <a:xfrm>
            <a:off x="5114693" y="3242910"/>
            <a:ext cx="352044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1200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Multi-node dashboard</a:t>
            </a:r>
            <a:endParaRPr/>
          </a:p>
        </p:txBody>
      </p:sp>
      <p:sp>
        <p:nvSpPr>
          <p:cNvPr id="255" name="Google Shape;255;p6"/>
          <p:cNvSpPr txBox="1"/>
          <p:nvPr/>
        </p:nvSpPr>
        <p:spPr>
          <a:xfrm>
            <a:off x="5114693" y="3460644"/>
            <a:ext cx="352044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12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Building-wide overview with per-node status.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7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5A62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7"/>
          <p:cNvSpPr/>
          <p:nvPr/>
        </p:nvSpPr>
        <p:spPr>
          <a:xfrm>
            <a:off x="420624" y="196597"/>
            <a:ext cx="1572260" cy="374903"/>
          </a:xfrm>
          <a:prstGeom prst="rect">
            <a:avLst/>
          </a:prstGeom>
          <a:solidFill>
            <a:srgbClr val="F5A62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7"/>
          <p:cNvSpPr txBox="1"/>
          <p:nvPr/>
        </p:nvSpPr>
        <p:spPr>
          <a:xfrm>
            <a:off x="566674" y="244603"/>
            <a:ext cx="128016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14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ACTUATORS</a:t>
            </a:r>
            <a:endParaRPr/>
          </a:p>
        </p:txBody>
      </p:sp>
      <p:sp>
        <p:nvSpPr>
          <p:cNvPr id="264" name="Google Shape;264;p7"/>
          <p:cNvSpPr txBox="1"/>
          <p:nvPr/>
        </p:nvSpPr>
        <p:spPr>
          <a:xfrm>
            <a:off x="420624" y="1104137"/>
            <a:ext cx="393192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1200">
                <a:solidFill>
                  <a:srgbClr val="00C9A7"/>
                </a:solidFill>
                <a:latin typeface="Calibri"/>
                <a:ea typeface="Calibri"/>
                <a:cs typeface="Calibri"/>
                <a:sym typeface="Calibri"/>
              </a:rPr>
              <a:t>LED Array </a:t>
            </a:r>
            <a:r>
              <a:rPr b="1" lang="it-IT" sz="1200">
                <a:solidFill>
                  <a:srgbClr val="00C9A7"/>
                </a:solidFill>
                <a:latin typeface="Calibri"/>
                <a:ea typeface="Calibri"/>
                <a:cs typeface="Calibri"/>
                <a:sym typeface="Calibri"/>
              </a:rPr>
              <a:t>and sound cues</a:t>
            </a:r>
            <a:endParaRPr b="1" i="0" sz="1200">
              <a:solidFill>
                <a:srgbClr val="00C9A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7"/>
          <p:cNvSpPr/>
          <p:nvPr/>
        </p:nvSpPr>
        <p:spPr>
          <a:xfrm>
            <a:off x="402336" y="1616201"/>
            <a:ext cx="457200" cy="457200"/>
          </a:xfrm>
          <a:prstGeom prst="ellipse">
            <a:avLst/>
          </a:prstGeom>
          <a:solidFill>
            <a:srgbClr val="27AE6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7"/>
          <p:cNvSpPr txBox="1"/>
          <p:nvPr/>
        </p:nvSpPr>
        <p:spPr>
          <a:xfrm>
            <a:off x="969264" y="1561336"/>
            <a:ext cx="118872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1200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GREEN LED</a:t>
            </a:r>
            <a:endParaRPr b="1" i="0" sz="1200">
              <a:solidFill>
                <a:srgbClr val="27AE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7"/>
          <p:cNvSpPr txBox="1"/>
          <p:nvPr/>
        </p:nvSpPr>
        <p:spPr>
          <a:xfrm>
            <a:off x="2909209" y="1569870"/>
            <a:ext cx="146304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&lt; 800 ppm</a:t>
            </a:r>
            <a:endParaRPr/>
          </a:p>
        </p:txBody>
      </p:sp>
      <p:sp>
        <p:nvSpPr>
          <p:cNvPr id="268" name="Google Shape;268;p7"/>
          <p:cNvSpPr txBox="1"/>
          <p:nvPr/>
        </p:nvSpPr>
        <p:spPr>
          <a:xfrm>
            <a:off x="969264" y="1835332"/>
            <a:ext cx="338328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1200">
                <a:solidFill>
                  <a:srgbClr val="8BA3B8"/>
                </a:solidFill>
                <a:latin typeface="Calibri"/>
                <a:ea typeface="Calibri"/>
                <a:cs typeface="Calibri"/>
                <a:sym typeface="Calibri"/>
              </a:rPr>
              <a:t>Air quality is good — no action needed.</a:t>
            </a:r>
            <a:endParaRPr/>
          </a:p>
        </p:txBody>
      </p:sp>
      <p:sp>
        <p:nvSpPr>
          <p:cNvPr id="269" name="Google Shape;269;p7"/>
          <p:cNvSpPr/>
          <p:nvPr/>
        </p:nvSpPr>
        <p:spPr>
          <a:xfrm>
            <a:off x="402336" y="2548889"/>
            <a:ext cx="457200" cy="457200"/>
          </a:xfrm>
          <a:prstGeom prst="ellipse">
            <a:avLst/>
          </a:prstGeom>
          <a:solidFill>
            <a:srgbClr val="F5A62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7"/>
          <p:cNvSpPr txBox="1"/>
          <p:nvPr/>
        </p:nvSpPr>
        <p:spPr>
          <a:xfrm>
            <a:off x="969264" y="2494025"/>
            <a:ext cx="118872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1200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AMBER LED</a:t>
            </a:r>
            <a:endParaRPr b="1" i="0" sz="1200">
              <a:solidFill>
                <a:srgbClr val="F5A62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7"/>
          <p:cNvSpPr txBox="1"/>
          <p:nvPr/>
        </p:nvSpPr>
        <p:spPr>
          <a:xfrm>
            <a:off x="2909212" y="2475735"/>
            <a:ext cx="146304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800–1,200 ppm</a:t>
            </a:r>
            <a:endParaRPr/>
          </a:p>
        </p:txBody>
      </p:sp>
      <p:sp>
        <p:nvSpPr>
          <p:cNvPr id="272" name="Google Shape;272;p7"/>
          <p:cNvSpPr txBox="1"/>
          <p:nvPr/>
        </p:nvSpPr>
        <p:spPr>
          <a:xfrm>
            <a:off x="969264" y="2759856"/>
            <a:ext cx="208566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1200">
                <a:solidFill>
                  <a:srgbClr val="8BA3B8"/>
                </a:solidFill>
                <a:latin typeface="Calibri"/>
                <a:ea typeface="Calibri"/>
                <a:cs typeface="Calibri"/>
                <a:sym typeface="Calibri"/>
              </a:rPr>
              <a:t>Ventilation recommended.</a:t>
            </a:r>
            <a:endParaRPr/>
          </a:p>
        </p:txBody>
      </p:sp>
      <p:sp>
        <p:nvSpPr>
          <p:cNvPr id="273" name="Google Shape;273;p7"/>
          <p:cNvSpPr/>
          <p:nvPr/>
        </p:nvSpPr>
        <p:spPr>
          <a:xfrm>
            <a:off x="402336" y="3481576"/>
            <a:ext cx="457200" cy="457200"/>
          </a:xfrm>
          <a:prstGeom prst="ellipse">
            <a:avLst/>
          </a:prstGeom>
          <a:solidFill>
            <a:srgbClr val="E8384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7"/>
          <p:cNvSpPr txBox="1"/>
          <p:nvPr/>
        </p:nvSpPr>
        <p:spPr>
          <a:xfrm>
            <a:off x="969264" y="3426713"/>
            <a:ext cx="118872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1200">
                <a:solidFill>
                  <a:srgbClr val="E8384D"/>
                </a:solidFill>
                <a:latin typeface="Calibri"/>
                <a:ea typeface="Calibri"/>
                <a:cs typeface="Calibri"/>
                <a:sym typeface="Calibri"/>
              </a:rPr>
              <a:t>RED LED</a:t>
            </a:r>
            <a:endParaRPr b="1" i="0" sz="1200">
              <a:solidFill>
                <a:srgbClr val="E8384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7"/>
          <p:cNvSpPr txBox="1"/>
          <p:nvPr/>
        </p:nvSpPr>
        <p:spPr>
          <a:xfrm>
            <a:off x="2917375" y="3322639"/>
            <a:ext cx="1030224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&gt;&gt;&gt; 1,200 ppm for a prolonged amount of time</a:t>
            </a:r>
            <a:endParaRPr b="0" i="0" sz="10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7"/>
          <p:cNvSpPr txBox="1"/>
          <p:nvPr/>
        </p:nvSpPr>
        <p:spPr>
          <a:xfrm>
            <a:off x="969264" y="3676217"/>
            <a:ext cx="230733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1200">
                <a:solidFill>
                  <a:srgbClr val="8BA3B8"/>
                </a:solidFill>
                <a:latin typeface="Calibri"/>
                <a:ea typeface="Calibri"/>
                <a:cs typeface="Calibri"/>
                <a:sym typeface="Calibri"/>
              </a:rPr>
              <a:t>Ventilation strongly recommended.</a:t>
            </a:r>
            <a:endParaRPr b="0" i="0" sz="1200">
              <a:solidFill>
                <a:srgbClr val="8BA3B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7"/>
          <p:cNvSpPr/>
          <p:nvPr/>
        </p:nvSpPr>
        <p:spPr>
          <a:xfrm>
            <a:off x="4236720" y="1059561"/>
            <a:ext cx="36576" cy="3566160"/>
          </a:xfrm>
          <a:prstGeom prst="rect">
            <a:avLst/>
          </a:prstGeom>
          <a:solidFill>
            <a:srgbClr val="1B3A5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7"/>
          <p:cNvSpPr txBox="1"/>
          <p:nvPr/>
        </p:nvSpPr>
        <p:spPr>
          <a:xfrm>
            <a:off x="4718304" y="1104137"/>
            <a:ext cx="41148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1200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Buzzer — Audible Alarm</a:t>
            </a:r>
            <a:endParaRPr/>
          </a:p>
        </p:txBody>
      </p:sp>
      <p:sp>
        <p:nvSpPr>
          <p:cNvPr id="279" name="Google Shape;279;p7"/>
          <p:cNvSpPr/>
          <p:nvPr/>
        </p:nvSpPr>
        <p:spPr>
          <a:xfrm>
            <a:off x="4739640" y="3393898"/>
            <a:ext cx="411480" cy="411480"/>
          </a:xfrm>
          <a:prstGeom prst="rect">
            <a:avLst/>
          </a:prstGeom>
          <a:solidFill>
            <a:srgbClr val="E8384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7"/>
          <p:cNvSpPr txBox="1"/>
          <p:nvPr/>
        </p:nvSpPr>
        <p:spPr>
          <a:xfrm>
            <a:off x="5233416" y="3316986"/>
            <a:ext cx="356616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1200">
                <a:solidFill>
                  <a:srgbClr val="E8384D"/>
                </a:solidFill>
                <a:latin typeface="Calibri"/>
                <a:ea typeface="Calibri"/>
                <a:cs typeface="Calibri"/>
                <a:sym typeface="Calibri"/>
              </a:rPr>
              <a:t>Full Alarm</a:t>
            </a:r>
            <a:endParaRPr/>
          </a:p>
        </p:txBody>
      </p:sp>
      <p:sp>
        <p:nvSpPr>
          <p:cNvPr id="281" name="Google Shape;281;p7"/>
          <p:cNvSpPr txBox="1"/>
          <p:nvPr/>
        </p:nvSpPr>
        <p:spPr>
          <a:xfrm>
            <a:off x="5250180" y="3517815"/>
            <a:ext cx="3566160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1200">
                <a:solidFill>
                  <a:srgbClr val="8BA3B8"/>
                </a:solidFill>
                <a:latin typeface="Calibri"/>
                <a:ea typeface="Calibri"/>
                <a:cs typeface="Calibri"/>
                <a:sym typeface="Calibri"/>
              </a:rPr>
              <a:t>Continuous tone when CO₂ exceeds danger threshold (close to 5000ppm). Different from the pre-alert tone and should induce urgency</a:t>
            </a:r>
            <a:r>
              <a:rPr lang="it-IT" sz="1200">
                <a:solidFill>
                  <a:srgbClr val="8BA3B8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b="0" i="0" lang="it-IT" sz="1200">
                <a:solidFill>
                  <a:srgbClr val="8BA3B8"/>
                </a:solidFill>
                <a:latin typeface="Calibri"/>
                <a:ea typeface="Calibri"/>
                <a:cs typeface="Calibri"/>
                <a:sym typeface="Calibri"/>
              </a:rPr>
              <a:t> An alert message is sent to the central server.</a:t>
            </a:r>
            <a:endParaRPr b="0" i="0" sz="1200">
              <a:solidFill>
                <a:srgbClr val="8BA3B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7"/>
          <p:cNvSpPr/>
          <p:nvPr/>
        </p:nvSpPr>
        <p:spPr>
          <a:xfrm>
            <a:off x="4760283" y="2513862"/>
            <a:ext cx="411480" cy="411480"/>
          </a:xfrm>
          <a:prstGeom prst="rect">
            <a:avLst/>
          </a:prstGeom>
          <a:solidFill>
            <a:srgbClr val="E36C0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7"/>
          <p:cNvSpPr txBox="1"/>
          <p:nvPr/>
        </p:nvSpPr>
        <p:spPr>
          <a:xfrm>
            <a:off x="5263896" y="2457992"/>
            <a:ext cx="356616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1200">
                <a:solidFill>
                  <a:srgbClr val="E36C09"/>
                </a:solidFill>
                <a:latin typeface="Calibri"/>
                <a:ea typeface="Calibri"/>
                <a:cs typeface="Calibri"/>
                <a:sym typeface="Calibri"/>
              </a:rPr>
              <a:t>Pre-Alert Tone</a:t>
            </a:r>
            <a:endParaRPr/>
          </a:p>
        </p:txBody>
      </p:sp>
      <p:sp>
        <p:nvSpPr>
          <p:cNvPr id="284" name="Google Shape;284;p7"/>
          <p:cNvSpPr txBox="1"/>
          <p:nvPr/>
        </p:nvSpPr>
        <p:spPr>
          <a:xfrm>
            <a:off x="5266944" y="2649471"/>
            <a:ext cx="356616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1200">
                <a:solidFill>
                  <a:srgbClr val="8BA3B8"/>
                </a:solidFill>
                <a:latin typeface="Calibri"/>
                <a:ea typeface="Calibri"/>
                <a:cs typeface="Calibri"/>
                <a:sym typeface="Calibri"/>
              </a:rPr>
              <a:t>Intermittent pattern played before </a:t>
            </a:r>
            <a:r>
              <a:rPr lang="it-IT" sz="1200">
                <a:solidFill>
                  <a:srgbClr val="8BA3B8"/>
                </a:solidFill>
                <a:latin typeface="Calibri"/>
                <a:ea typeface="Calibri"/>
                <a:cs typeface="Calibri"/>
                <a:sym typeface="Calibri"/>
              </a:rPr>
              <a:t>crossing the danger threshold.</a:t>
            </a:r>
            <a:r>
              <a:rPr b="0" i="0" lang="it-IT" sz="1200">
                <a:solidFill>
                  <a:srgbClr val="8BA3B8"/>
                </a:solidFill>
                <a:latin typeface="Calibri"/>
                <a:ea typeface="Calibri"/>
                <a:cs typeface="Calibri"/>
                <a:sym typeface="Calibri"/>
              </a:rPr>
              <a:t> Distinguishable from full alarm.</a:t>
            </a:r>
            <a:endParaRPr/>
          </a:p>
        </p:txBody>
      </p:sp>
      <p:sp>
        <p:nvSpPr>
          <p:cNvPr id="285" name="Google Shape;285;p7"/>
          <p:cNvSpPr/>
          <p:nvPr/>
        </p:nvSpPr>
        <p:spPr>
          <a:xfrm>
            <a:off x="4733544" y="1639061"/>
            <a:ext cx="417576" cy="411480"/>
          </a:xfrm>
          <a:prstGeom prst="rect">
            <a:avLst/>
          </a:prstGeom>
          <a:solidFill>
            <a:srgbClr val="17365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38CD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7"/>
          <p:cNvSpPr txBox="1"/>
          <p:nvPr/>
        </p:nvSpPr>
        <p:spPr>
          <a:xfrm>
            <a:off x="5263896" y="1580169"/>
            <a:ext cx="356616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1200">
                <a:solidFill>
                  <a:srgbClr val="538CD5"/>
                </a:solidFill>
                <a:latin typeface="Calibri"/>
                <a:ea typeface="Calibri"/>
                <a:cs typeface="Calibri"/>
                <a:sym typeface="Calibri"/>
              </a:rPr>
              <a:t>Snooze</a:t>
            </a:r>
            <a:endParaRPr/>
          </a:p>
        </p:txBody>
      </p:sp>
      <p:sp>
        <p:nvSpPr>
          <p:cNvPr id="287" name="Google Shape;287;p7"/>
          <p:cNvSpPr txBox="1"/>
          <p:nvPr/>
        </p:nvSpPr>
        <p:spPr>
          <a:xfrm>
            <a:off x="5263896" y="1807557"/>
            <a:ext cx="356616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1200">
                <a:solidFill>
                  <a:srgbClr val="8BA3B8"/>
                </a:solidFill>
                <a:latin typeface="Calibri"/>
                <a:ea typeface="Calibri"/>
                <a:cs typeface="Calibri"/>
                <a:sym typeface="Calibri"/>
              </a:rPr>
              <a:t>Button press silences alarm for a configurable period</a:t>
            </a:r>
            <a:br>
              <a:rPr b="0" i="0" lang="it-IT" sz="1200">
                <a:solidFill>
                  <a:srgbClr val="8BA3B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it-IT" sz="1200">
                <a:solidFill>
                  <a:srgbClr val="8BA3B8"/>
                </a:solidFill>
                <a:latin typeface="Calibri"/>
                <a:ea typeface="Calibri"/>
                <a:cs typeface="Calibri"/>
                <a:sym typeface="Calibri"/>
              </a:rPr>
              <a:t>to prevent alarm fatigue. The use of this feature is notified to the central server.</a:t>
            </a:r>
            <a:endParaRPr b="0" i="0" sz="1200">
              <a:solidFill>
                <a:srgbClr val="8BA3B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8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5A62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8"/>
          <p:cNvSpPr/>
          <p:nvPr/>
        </p:nvSpPr>
        <p:spPr>
          <a:xfrm>
            <a:off x="461356" y="277552"/>
            <a:ext cx="1422400" cy="292608"/>
          </a:xfrm>
          <a:prstGeom prst="rect">
            <a:avLst/>
          </a:prstGeom>
          <a:solidFill>
            <a:srgbClr val="F5A62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8"/>
          <p:cNvSpPr txBox="1"/>
          <p:nvPr/>
        </p:nvSpPr>
        <p:spPr>
          <a:xfrm>
            <a:off x="532476" y="269967"/>
            <a:ext cx="128016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14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CONSTRAINTS</a:t>
            </a:r>
            <a:endParaRPr/>
          </a:p>
        </p:txBody>
      </p:sp>
      <p:sp>
        <p:nvSpPr>
          <p:cNvPr id="296" name="Google Shape;296;p8"/>
          <p:cNvSpPr/>
          <p:nvPr/>
        </p:nvSpPr>
        <p:spPr>
          <a:xfrm>
            <a:off x="365760" y="1024128"/>
            <a:ext cx="4114800" cy="1691640"/>
          </a:xfrm>
          <a:prstGeom prst="rect">
            <a:avLst/>
          </a:prstGeom>
          <a:solidFill>
            <a:srgbClr val="13233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8"/>
          <p:cNvSpPr/>
          <p:nvPr/>
        </p:nvSpPr>
        <p:spPr>
          <a:xfrm>
            <a:off x="365760" y="1024128"/>
            <a:ext cx="411480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8"/>
          <p:cNvSpPr txBox="1"/>
          <p:nvPr/>
        </p:nvSpPr>
        <p:spPr>
          <a:xfrm>
            <a:off x="502920" y="1133856"/>
            <a:ext cx="384048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1200">
                <a:solidFill>
                  <a:srgbClr val="00C9A7"/>
                </a:solidFill>
                <a:latin typeface="Calibri"/>
                <a:ea typeface="Calibri"/>
                <a:cs typeface="Calibri"/>
                <a:sym typeface="Calibri"/>
              </a:rPr>
              <a:t>Latency</a:t>
            </a:r>
            <a:endParaRPr/>
          </a:p>
        </p:txBody>
      </p:sp>
      <p:sp>
        <p:nvSpPr>
          <p:cNvPr id="299" name="Google Shape;299;p8"/>
          <p:cNvSpPr txBox="1"/>
          <p:nvPr/>
        </p:nvSpPr>
        <p:spPr>
          <a:xfrm>
            <a:off x="502920" y="1437747"/>
            <a:ext cx="3749039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>
                <a:solidFill>
                  <a:srgbClr val="8BA3B8"/>
                </a:solidFill>
                <a:latin typeface="Calibri"/>
                <a:ea typeface="Calibri"/>
                <a:cs typeface="Calibri"/>
                <a:sym typeface="Calibri"/>
              </a:rPr>
              <a:t>The monitored issue doesn’t require low latency.</a:t>
            </a:r>
            <a:endParaRPr sz="1200">
              <a:solidFill>
                <a:srgbClr val="8BA3B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>
                <a:solidFill>
                  <a:srgbClr val="8BA3B8"/>
                </a:solidFill>
                <a:latin typeface="Calibri"/>
                <a:ea typeface="Calibri"/>
                <a:cs typeface="Calibri"/>
                <a:sym typeface="Calibri"/>
              </a:rPr>
              <a:t>▸  The measured phenomenon is slow (RH, temperature and CO</a:t>
            </a:r>
            <a:r>
              <a:rPr baseline="-25000" lang="it-IT" sz="1200">
                <a:solidFill>
                  <a:srgbClr val="8BA3B8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it-IT" sz="1200">
                <a:solidFill>
                  <a:srgbClr val="8BA3B8"/>
                </a:solidFill>
                <a:latin typeface="Calibri"/>
                <a:ea typeface="Calibri"/>
                <a:cs typeface="Calibri"/>
                <a:sym typeface="Calibri"/>
              </a:rPr>
              <a:t> variations).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>
                <a:solidFill>
                  <a:srgbClr val="8BA3B8"/>
                </a:solidFill>
                <a:latin typeface="Calibri"/>
                <a:ea typeface="Calibri"/>
                <a:cs typeface="Calibri"/>
                <a:sym typeface="Calibri"/>
              </a:rPr>
              <a:t>▸ If a danger threshold is reached, the device itself can react by alerting the users.</a:t>
            </a:r>
            <a:endParaRPr sz="1200">
              <a:solidFill>
                <a:srgbClr val="8BA3B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8"/>
          <p:cNvSpPr/>
          <p:nvPr/>
        </p:nvSpPr>
        <p:spPr>
          <a:xfrm>
            <a:off x="4754880" y="1024128"/>
            <a:ext cx="4114800" cy="1691640"/>
          </a:xfrm>
          <a:prstGeom prst="rect">
            <a:avLst/>
          </a:prstGeom>
          <a:solidFill>
            <a:srgbClr val="13233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8"/>
          <p:cNvSpPr/>
          <p:nvPr/>
        </p:nvSpPr>
        <p:spPr>
          <a:xfrm>
            <a:off x="4754880" y="1024128"/>
            <a:ext cx="4114800" cy="45720"/>
          </a:xfrm>
          <a:prstGeom prst="rect">
            <a:avLst/>
          </a:prstGeom>
          <a:solidFill>
            <a:srgbClr val="2E6DA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8"/>
          <p:cNvSpPr txBox="1"/>
          <p:nvPr/>
        </p:nvSpPr>
        <p:spPr>
          <a:xfrm>
            <a:off x="4892040" y="1133856"/>
            <a:ext cx="384048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1200">
                <a:solidFill>
                  <a:srgbClr val="2E6DA4"/>
                </a:solidFill>
                <a:latin typeface="Calibri"/>
                <a:ea typeface="Calibri"/>
                <a:cs typeface="Calibri"/>
                <a:sym typeface="Calibri"/>
              </a:rPr>
              <a:t>Bandwidth</a:t>
            </a:r>
            <a:endParaRPr/>
          </a:p>
        </p:txBody>
      </p:sp>
      <p:sp>
        <p:nvSpPr>
          <p:cNvPr id="303" name="Google Shape;303;p8"/>
          <p:cNvSpPr txBox="1"/>
          <p:nvPr/>
        </p:nvSpPr>
        <p:spPr>
          <a:xfrm>
            <a:off x="4846320" y="1183578"/>
            <a:ext cx="3749039" cy="1938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8BA3B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>
                <a:solidFill>
                  <a:srgbClr val="8BA3B8"/>
                </a:solidFill>
                <a:latin typeface="Calibri"/>
                <a:ea typeface="Calibri"/>
                <a:cs typeface="Calibri"/>
                <a:sym typeface="Calibri"/>
              </a:rPr>
              <a:t>▸  LoRa throughput is low (0.3 – 50 kbps) but sufficient for the task.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>
                <a:solidFill>
                  <a:srgbClr val="8BA3B8"/>
                </a:solidFill>
                <a:latin typeface="Calibri"/>
                <a:ea typeface="Calibri"/>
                <a:cs typeface="Calibri"/>
                <a:sym typeface="Calibri"/>
              </a:rPr>
              <a:t>▸  The indoor sensors cannot be too far (&lt;2km) from the central building with the LoRa receiver, unless a LoRa signal repeater is installed.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8BA3B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8BA3B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8BA3B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8BA3B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8"/>
          <p:cNvSpPr/>
          <p:nvPr/>
        </p:nvSpPr>
        <p:spPr>
          <a:xfrm>
            <a:off x="365760" y="2834640"/>
            <a:ext cx="4114800" cy="1691640"/>
          </a:xfrm>
          <a:prstGeom prst="rect">
            <a:avLst/>
          </a:prstGeom>
          <a:solidFill>
            <a:srgbClr val="13233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8"/>
          <p:cNvSpPr/>
          <p:nvPr/>
        </p:nvSpPr>
        <p:spPr>
          <a:xfrm>
            <a:off x="365760" y="2834640"/>
            <a:ext cx="4114800" cy="45720"/>
          </a:xfrm>
          <a:prstGeom prst="rect">
            <a:avLst/>
          </a:prstGeom>
          <a:solidFill>
            <a:srgbClr val="F5A62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8"/>
          <p:cNvSpPr txBox="1"/>
          <p:nvPr/>
        </p:nvSpPr>
        <p:spPr>
          <a:xfrm>
            <a:off x="502920" y="2944368"/>
            <a:ext cx="384048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1200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Sampling Frequency</a:t>
            </a:r>
            <a:endParaRPr/>
          </a:p>
        </p:txBody>
      </p:sp>
      <p:sp>
        <p:nvSpPr>
          <p:cNvPr id="307" name="Google Shape;307;p8"/>
          <p:cNvSpPr txBox="1"/>
          <p:nvPr/>
        </p:nvSpPr>
        <p:spPr>
          <a:xfrm>
            <a:off x="461356" y="3162152"/>
            <a:ext cx="4019204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>
                <a:solidFill>
                  <a:srgbClr val="8BA3B8"/>
                </a:solidFill>
                <a:latin typeface="Calibri"/>
                <a:ea typeface="Calibri"/>
                <a:cs typeface="Calibri"/>
                <a:sym typeface="Calibri"/>
              </a:rPr>
              <a:t>▸  CO2, RH and temperature dynamics are slow.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>
                <a:solidFill>
                  <a:srgbClr val="8BA3B8"/>
                </a:solidFill>
                <a:latin typeface="Calibri"/>
                <a:ea typeface="Calibri"/>
                <a:cs typeface="Calibri"/>
                <a:sym typeface="Calibri"/>
              </a:rPr>
              <a:t>▸  The SCD41 supports 4 operation modes: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>
                <a:solidFill>
                  <a:srgbClr val="8BA3B8"/>
                </a:solidFill>
                <a:latin typeface="Calibri"/>
                <a:ea typeface="Calibri"/>
                <a:cs typeface="Calibri"/>
                <a:sym typeface="Calibri"/>
              </a:rPr>
              <a:t>high performance (5 sec sampling period), low power (30 sec sampling period), idle single shot, power cycled single shot.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>
                <a:solidFill>
                  <a:srgbClr val="8BA3B8"/>
                </a:solidFill>
                <a:latin typeface="Calibri"/>
                <a:ea typeface="Calibri"/>
                <a:cs typeface="Calibri"/>
                <a:sym typeface="Calibri"/>
              </a:rPr>
              <a:t>▸We aim for low power, or idle single shot (once every 5 mins) and change to adaptive mode (every min) if threshold is crossed.</a:t>
            </a:r>
            <a:endParaRPr/>
          </a:p>
        </p:txBody>
      </p:sp>
      <p:sp>
        <p:nvSpPr>
          <p:cNvPr id="308" name="Google Shape;308;p8"/>
          <p:cNvSpPr/>
          <p:nvPr/>
        </p:nvSpPr>
        <p:spPr>
          <a:xfrm>
            <a:off x="4754880" y="2834640"/>
            <a:ext cx="4114800" cy="1691640"/>
          </a:xfrm>
          <a:prstGeom prst="rect">
            <a:avLst/>
          </a:prstGeom>
          <a:solidFill>
            <a:srgbClr val="13233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8"/>
          <p:cNvSpPr/>
          <p:nvPr/>
        </p:nvSpPr>
        <p:spPr>
          <a:xfrm>
            <a:off x="4754880" y="2834640"/>
            <a:ext cx="4114800" cy="45720"/>
          </a:xfrm>
          <a:prstGeom prst="rect">
            <a:avLst/>
          </a:prstGeom>
          <a:solidFill>
            <a:srgbClr val="E8384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8"/>
          <p:cNvSpPr txBox="1"/>
          <p:nvPr/>
        </p:nvSpPr>
        <p:spPr>
          <a:xfrm>
            <a:off x="4892040" y="2944368"/>
            <a:ext cx="384048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1200">
                <a:solidFill>
                  <a:srgbClr val="E8384D"/>
                </a:solidFill>
                <a:latin typeface="Calibri"/>
                <a:ea typeface="Calibri"/>
                <a:cs typeface="Calibri"/>
                <a:sym typeface="Calibri"/>
              </a:rPr>
              <a:t>Power Consumption</a:t>
            </a:r>
            <a:endParaRPr b="1" i="0" sz="1200">
              <a:solidFill>
                <a:srgbClr val="E8384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8"/>
          <p:cNvSpPr txBox="1"/>
          <p:nvPr/>
        </p:nvSpPr>
        <p:spPr>
          <a:xfrm>
            <a:off x="4892040" y="3209103"/>
            <a:ext cx="374903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>
                <a:solidFill>
                  <a:srgbClr val="8BA3B8"/>
                </a:solidFill>
                <a:latin typeface="Calibri"/>
                <a:ea typeface="Calibri"/>
                <a:cs typeface="Calibri"/>
                <a:sym typeface="Calibri"/>
              </a:rPr>
              <a:t>Most important constraint, given that there is no way to harvest energy from the environment.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>
                <a:solidFill>
                  <a:srgbClr val="8BA3B8"/>
                </a:solidFill>
                <a:latin typeface="Calibri"/>
                <a:ea typeface="Calibri"/>
                <a:cs typeface="Calibri"/>
                <a:sym typeface="Calibri"/>
              </a:rPr>
              <a:t>▸  Change battery every 3 months.</a:t>
            </a:r>
            <a:endParaRPr sz="1200">
              <a:solidFill>
                <a:srgbClr val="8BA3B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8"/>
          <p:cNvSpPr/>
          <p:nvPr/>
        </p:nvSpPr>
        <p:spPr>
          <a:xfrm>
            <a:off x="365760" y="4623358"/>
            <a:ext cx="8503920" cy="353199"/>
          </a:xfrm>
          <a:prstGeom prst="rect">
            <a:avLst/>
          </a:prstGeom>
          <a:solidFill>
            <a:srgbClr val="132338"/>
          </a:solidFill>
          <a:ln cap="flat" cmpd="sng" w="9525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8"/>
          <p:cNvSpPr txBox="1"/>
          <p:nvPr/>
        </p:nvSpPr>
        <p:spPr>
          <a:xfrm>
            <a:off x="365760" y="4610521"/>
            <a:ext cx="616970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1200">
                <a:solidFill>
                  <a:srgbClr val="00C9A7"/>
                </a:solidFill>
                <a:latin typeface="Calibri"/>
                <a:ea typeface="Calibri"/>
                <a:cs typeface="Calibri"/>
                <a:sym typeface="Calibri"/>
              </a:rPr>
              <a:t>Error Rate:</a:t>
            </a:r>
            <a:r>
              <a:rPr lang="it-IT" sz="1200">
                <a:solidFill>
                  <a:srgbClr val="8BA3B8"/>
                </a:solidFill>
                <a:latin typeface="Calibri"/>
                <a:ea typeface="Calibri"/>
                <a:cs typeface="Calibri"/>
                <a:sym typeface="Calibri"/>
              </a:rPr>
              <a:t> Aim is to reduce FPR such that is it close to 0, to prevent habituation to false alarms.</a:t>
            </a:r>
            <a:r>
              <a:rPr lang="it-IT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9"/>
          <p:cNvSpPr/>
          <p:nvPr/>
        </p:nvSpPr>
        <p:spPr>
          <a:xfrm>
            <a:off x="0" y="-41148"/>
            <a:ext cx="9144000" cy="5143500"/>
          </a:xfrm>
          <a:prstGeom prst="rect">
            <a:avLst/>
          </a:prstGeom>
          <a:solidFill>
            <a:srgbClr val="0D1B2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9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9A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3A5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9"/>
          <p:cNvSpPr txBox="1"/>
          <p:nvPr/>
        </p:nvSpPr>
        <p:spPr>
          <a:xfrm>
            <a:off x="457200" y="640080"/>
            <a:ext cx="6400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3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Workplace Air Quality</a:t>
            </a:r>
            <a:endParaRPr/>
          </a:p>
        </p:txBody>
      </p:sp>
      <p:sp>
        <p:nvSpPr>
          <p:cNvPr id="322" name="Google Shape;322;p9"/>
          <p:cNvSpPr txBox="1"/>
          <p:nvPr/>
        </p:nvSpPr>
        <p:spPr>
          <a:xfrm>
            <a:off x="457200" y="1325880"/>
            <a:ext cx="6400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3600">
                <a:solidFill>
                  <a:srgbClr val="00C9A7"/>
                </a:solidFill>
                <a:latin typeface="Calibri"/>
                <a:ea typeface="Calibri"/>
                <a:cs typeface="Calibri"/>
                <a:sym typeface="Calibri"/>
              </a:rPr>
              <a:t>Monitoring</a:t>
            </a:r>
            <a:endParaRPr/>
          </a:p>
        </p:txBody>
      </p:sp>
      <p:sp>
        <p:nvSpPr>
          <p:cNvPr id="323" name="Google Shape;323;p9"/>
          <p:cNvSpPr txBox="1"/>
          <p:nvPr/>
        </p:nvSpPr>
        <p:spPr>
          <a:xfrm>
            <a:off x="457200" y="2103120"/>
            <a:ext cx="640080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it-IT" sz="1400">
                <a:solidFill>
                  <a:srgbClr val="8BA3B8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aseline="30000" i="1" lang="it-IT" sz="1400">
                <a:solidFill>
                  <a:srgbClr val="8BA3B8"/>
                </a:solidFill>
                <a:latin typeface="Calibri"/>
                <a:ea typeface="Calibri"/>
                <a:cs typeface="Calibri"/>
                <a:sym typeface="Calibri"/>
              </a:rPr>
              <a:t>nd</a:t>
            </a:r>
            <a:r>
              <a:rPr i="1" lang="it-IT" sz="1400">
                <a:solidFill>
                  <a:srgbClr val="8BA3B8"/>
                </a:solidFill>
                <a:latin typeface="Calibri"/>
                <a:ea typeface="Calibri"/>
                <a:cs typeface="Calibri"/>
                <a:sym typeface="Calibri"/>
              </a:rPr>
              <a:t> Delivery </a:t>
            </a:r>
            <a:r>
              <a:rPr b="0" i="1" lang="it-IT" sz="1400">
                <a:solidFill>
                  <a:srgbClr val="8BA3B8"/>
                </a:solidFill>
                <a:latin typeface="Calibri"/>
                <a:ea typeface="Calibri"/>
                <a:cs typeface="Calibri"/>
                <a:sym typeface="Calibri"/>
              </a:rPr>
              <a:t>– 10/04/2026</a:t>
            </a:r>
            <a:endParaRPr b="0" i="1" sz="1400">
              <a:solidFill>
                <a:srgbClr val="8BA3B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9"/>
          <p:cNvSpPr txBox="1"/>
          <p:nvPr/>
        </p:nvSpPr>
        <p:spPr>
          <a:xfrm>
            <a:off x="6858000" y="4828032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it-IT" sz="900">
                <a:solidFill>
                  <a:srgbClr val="8BA3B8"/>
                </a:solidFill>
                <a:latin typeface="Calibri"/>
                <a:ea typeface="Calibri"/>
                <a:cs typeface="Calibri"/>
                <a:sym typeface="Calibri"/>
              </a:rPr>
              <a:t>IoTeam 2026</a:t>
            </a:r>
            <a:endParaRPr/>
          </a:p>
        </p:txBody>
      </p:sp>
      <p:pic>
        <p:nvPicPr>
          <p:cNvPr id="325" name="Google Shape;325;p9"/>
          <p:cNvPicPr preferRelativeResize="0"/>
          <p:nvPr/>
        </p:nvPicPr>
        <p:blipFill rotWithShape="1">
          <a:blip r:embed="rId3">
            <a:alphaModFix/>
          </a:blip>
          <a:srcRect b="1711" l="7485" r="7960" t="10924"/>
          <a:stretch/>
        </p:blipFill>
        <p:spPr>
          <a:xfrm>
            <a:off x="4827616" y="1512895"/>
            <a:ext cx="3859184" cy="2990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6F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95373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2" name="Google Shape;332;p10"/>
          <p:cNvPicPr preferRelativeResize="0"/>
          <p:nvPr/>
        </p:nvPicPr>
        <p:blipFill rotWithShape="1">
          <a:blip r:embed="rId3">
            <a:alphaModFix/>
          </a:blip>
          <a:srcRect b="5505" l="914" r="2205" t="6032"/>
          <a:stretch/>
        </p:blipFill>
        <p:spPr>
          <a:xfrm>
            <a:off x="1246106" y="64009"/>
            <a:ext cx="7897891" cy="5079492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10"/>
          <p:cNvSpPr/>
          <p:nvPr/>
        </p:nvSpPr>
        <p:spPr>
          <a:xfrm>
            <a:off x="326571" y="164591"/>
            <a:ext cx="1587500" cy="307777"/>
          </a:xfrm>
          <a:prstGeom prst="rect">
            <a:avLst/>
          </a:prstGeom>
          <a:solidFill>
            <a:srgbClr val="95373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0"/>
          <p:cNvSpPr txBox="1"/>
          <p:nvPr/>
        </p:nvSpPr>
        <p:spPr>
          <a:xfrm>
            <a:off x="400065" y="174061"/>
            <a:ext cx="127361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CIRCUIT</a:t>
            </a:r>
            <a:endParaRPr b="1" i="0" sz="1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1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6F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E6DA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1" name="Google Shape;341;p11"/>
          <p:cNvPicPr preferRelativeResize="0"/>
          <p:nvPr/>
        </p:nvPicPr>
        <p:blipFill rotWithShape="1">
          <a:blip r:embed="rId3">
            <a:alphaModFix/>
          </a:blip>
          <a:srcRect b="12485" l="0" r="0" t="0"/>
          <a:stretch/>
        </p:blipFill>
        <p:spPr>
          <a:xfrm>
            <a:off x="1330779" y="321424"/>
            <a:ext cx="7813222" cy="4822076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11"/>
          <p:cNvSpPr/>
          <p:nvPr/>
        </p:nvSpPr>
        <p:spPr>
          <a:xfrm>
            <a:off x="457200" y="164591"/>
            <a:ext cx="2065564" cy="307777"/>
          </a:xfrm>
          <a:prstGeom prst="rect">
            <a:avLst/>
          </a:prstGeom>
          <a:solidFill>
            <a:srgbClr val="2E6DA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1"/>
          <p:cNvSpPr txBox="1"/>
          <p:nvPr/>
        </p:nvSpPr>
        <p:spPr>
          <a:xfrm>
            <a:off x="457200" y="174061"/>
            <a:ext cx="206556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HIGH LEVEL PROG</a:t>
            </a:r>
            <a:r>
              <a:rPr b="1" lang="it-IT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b="1" i="0" lang="it-IT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AM</a:t>
            </a:r>
            <a:endParaRPr b="1" i="0" sz="1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36C0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2"/>
          <p:cNvSpPr/>
          <p:nvPr/>
        </p:nvSpPr>
        <p:spPr>
          <a:xfrm>
            <a:off x="461356" y="277552"/>
            <a:ext cx="1422400" cy="292608"/>
          </a:xfrm>
          <a:prstGeom prst="rect">
            <a:avLst/>
          </a:prstGeom>
          <a:solidFill>
            <a:srgbClr val="E36C0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2"/>
          <p:cNvSpPr txBox="1"/>
          <p:nvPr/>
        </p:nvSpPr>
        <p:spPr>
          <a:xfrm>
            <a:off x="532476" y="269967"/>
            <a:ext cx="128016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14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VIDEO</a:t>
            </a:r>
            <a:endParaRPr b="1" i="0" sz="1400">
              <a:solidFill>
                <a:srgbClr val="0D1B2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2" name="Google Shape;352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35760" y="1037255"/>
            <a:ext cx="5872480" cy="33067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0"/>
                                        <p:tgtEl>
                                          <p:spTgt spid="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1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3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36C0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3"/>
          <p:cNvSpPr/>
          <p:nvPr/>
        </p:nvSpPr>
        <p:spPr>
          <a:xfrm>
            <a:off x="461356" y="277552"/>
            <a:ext cx="1422400" cy="292608"/>
          </a:xfrm>
          <a:prstGeom prst="rect">
            <a:avLst/>
          </a:prstGeom>
          <a:solidFill>
            <a:srgbClr val="E36C0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3"/>
          <p:cNvSpPr txBox="1"/>
          <p:nvPr/>
        </p:nvSpPr>
        <p:spPr>
          <a:xfrm>
            <a:off x="532476" y="269967"/>
            <a:ext cx="128016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14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EXPERIMENT</a:t>
            </a:r>
            <a:endParaRPr b="1" i="0" sz="1400">
              <a:solidFill>
                <a:srgbClr val="0D1B2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1" name="Google Shape;361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04209" y="706491"/>
            <a:ext cx="6380371" cy="3730518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13"/>
          <p:cNvSpPr txBox="1"/>
          <p:nvPr/>
        </p:nvSpPr>
        <p:spPr>
          <a:xfrm>
            <a:off x="90747" y="748374"/>
            <a:ext cx="2413462" cy="35394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968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>
              <a:solidFill>
                <a:srgbClr val="8BA3B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8BA3B8"/>
              </a:buClr>
              <a:buSzPts val="1400"/>
              <a:buFont typeface="Arial"/>
              <a:buChar char="•"/>
            </a:pPr>
            <a:r>
              <a:rPr b="0" i="0" lang="it-IT" sz="1400">
                <a:solidFill>
                  <a:srgbClr val="8BA3B8"/>
                </a:solidFill>
                <a:latin typeface="Calibri"/>
                <a:ea typeface="Calibri"/>
                <a:cs typeface="Calibri"/>
                <a:sym typeface="Calibri"/>
              </a:rPr>
              <a:t>The sensor is exposed to fresh air from outside.</a:t>
            </a:r>
            <a:endParaRPr/>
          </a:p>
          <a:p>
            <a:pPr indent="-1968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rgbClr val="8BA3B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8BA3B8"/>
              </a:buClr>
              <a:buSzPts val="1400"/>
              <a:buFont typeface="Arial"/>
              <a:buChar char="•"/>
            </a:pPr>
            <a:r>
              <a:rPr lang="it-IT" sz="1400">
                <a:solidFill>
                  <a:srgbClr val="8BA3B8"/>
                </a:solidFill>
                <a:latin typeface="Calibri"/>
                <a:ea typeface="Calibri"/>
                <a:cs typeface="Calibri"/>
                <a:sym typeface="Calibri"/>
              </a:rPr>
              <a:t>Then the sensor is deployed inside a room, with two people; the room’s door and windows are kept closed for the experiment duration.</a:t>
            </a:r>
            <a:endParaRPr b="0" i="0" sz="1400">
              <a:solidFill>
                <a:srgbClr val="8BA3B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68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rgbClr val="8BA3B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8BA3B8"/>
              </a:buClr>
              <a:buSzPts val="1400"/>
              <a:buFont typeface="Arial"/>
              <a:buChar char="•"/>
            </a:pPr>
            <a:r>
              <a:rPr b="0" i="0" lang="it-IT" sz="1400">
                <a:solidFill>
                  <a:srgbClr val="8BA3B8"/>
                </a:solidFill>
                <a:latin typeface="Calibri"/>
                <a:ea typeface="Calibri"/>
                <a:cs typeface="Calibri"/>
                <a:sym typeface="Calibri"/>
              </a:rPr>
              <a:t>The experiment duration was about 5 hours</a:t>
            </a:r>
            <a:r>
              <a:rPr lang="it-IT" sz="1400">
                <a:solidFill>
                  <a:srgbClr val="8BA3B8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400">
              <a:solidFill>
                <a:srgbClr val="8BA3B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68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rgbClr val="8BA3B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8BA3B8"/>
              </a:buClr>
              <a:buSzPts val="1400"/>
              <a:buFont typeface="Arial"/>
              <a:buChar char="•"/>
            </a:pPr>
            <a:r>
              <a:rPr lang="it-IT" sz="1400">
                <a:solidFill>
                  <a:srgbClr val="8BA3B8"/>
                </a:solidFill>
                <a:latin typeface="Calibri"/>
                <a:ea typeface="Calibri"/>
                <a:cs typeface="Calibri"/>
                <a:sym typeface="Calibri"/>
              </a:rPr>
              <a:t>The interval between samples is 30 seconds.</a:t>
            </a:r>
            <a:endParaRPr b="0" i="0" sz="1400">
              <a:solidFill>
                <a:srgbClr val="8BA3B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3"/>
          <p:cNvSpPr txBox="1"/>
          <p:nvPr/>
        </p:nvSpPr>
        <p:spPr>
          <a:xfrm>
            <a:off x="2359198" y="536180"/>
            <a:ext cx="210312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</a:t>
            </a:r>
            <a:r>
              <a:rPr b="0" baseline="-25000" i="0" lang="it-IT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baseline="-25000" i="0" sz="1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3"/>
          <p:cNvSpPr txBox="1"/>
          <p:nvPr/>
        </p:nvSpPr>
        <p:spPr>
          <a:xfrm>
            <a:off x="8456122" y="4298509"/>
            <a:ext cx="210312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Samples</a:t>
            </a:r>
            <a:endParaRPr b="0" baseline="-25000" i="0" sz="1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4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36C0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4"/>
          <p:cNvSpPr/>
          <p:nvPr/>
        </p:nvSpPr>
        <p:spPr>
          <a:xfrm>
            <a:off x="461356" y="277552"/>
            <a:ext cx="1422400" cy="292608"/>
          </a:xfrm>
          <a:prstGeom prst="rect">
            <a:avLst/>
          </a:prstGeom>
          <a:solidFill>
            <a:srgbClr val="E36C0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4"/>
          <p:cNvSpPr txBox="1"/>
          <p:nvPr/>
        </p:nvSpPr>
        <p:spPr>
          <a:xfrm>
            <a:off x="532476" y="269967"/>
            <a:ext cx="128016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14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EXPERIMENT</a:t>
            </a:r>
            <a:endParaRPr b="1" i="0" sz="1400">
              <a:solidFill>
                <a:srgbClr val="0D1B2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3" name="Google Shape;37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11611" y="706491"/>
            <a:ext cx="6365566" cy="3730518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14"/>
          <p:cNvSpPr txBox="1"/>
          <p:nvPr/>
        </p:nvSpPr>
        <p:spPr>
          <a:xfrm>
            <a:off x="90747" y="748374"/>
            <a:ext cx="2413462" cy="35394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968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>
              <a:solidFill>
                <a:srgbClr val="8BA3B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8BA3B8"/>
              </a:buClr>
              <a:buSzPts val="1400"/>
              <a:buFont typeface="Arial"/>
              <a:buChar char="•"/>
            </a:pPr>
            <a:r>
              <a:rPr b="0" i="0" lang="it-IT" sz="1400">
                <a:solidFill>
                  <a:srgbClr val="8BA3B8"/>
                </a:solidFill>
                <a:latin typeface="Calibri"/>
                <a:ea typeface="Calibri"/>
                <a:cs typeface="Calibri"/>
                <a:sym typeface="Calibri"/>
              </a:rPr>
              <a:t>The sensor is exposed to fresh air from outside</a:t>
            </a:r>
            <a:endParaRPr b="0" i="0" sz="1400">
              <a:solidFill>
                <a:srgbClr val="8BA3B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68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rgbClr val="8BA3B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8BA3B8"/>
              </a:buClr>
              <a:buSzPts val="1400"/>
              <a:buFont typeface="Arial"/>
              <a:buChar char="•"/>
            </a:pPr>
            <a:r>
              <a:rPr lang="it-IT" sz="1400">
                <a:solidFill>
                  <a:srgbClr val="8BA3B8"/>
                </a:solidFill>
                <a:latin typeface="Calibri"/>
                <a:ea typeface="Calibri"/>
                <a:cs typeface="Calibri"/>
                <a:sym typeface="Calibri"/>
              </a:rPr>
              <a:t>Then the sensor is deployed inside a room, with two people; the room’s door and windows are kept closed for the experiment duration</a:t>
            </a:r>
            <a:endParaRPr b="0" i="0" sz="1400">
              <a:solidFill>
                <a:srgbClr val="8BA3B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68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rgbClr val="8BA3B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8BA3B8"/>
              </a:buClr>
              <a:buSzPts val="1400"/>
              <a:buFont typeface="Arial"/>
              <a:buChar char="•"/>
            </a:pPr>
            <a:r>
              <a:rPr b="0" i="0" lang="it-IT" sz="1400">
                <a:solidFill>
                  <a:srgbClr val="8BA3B8"/>
                </a:solidFill>
                <a:latin typeface="Calibri"/>
                <a:ea typeface="Calibri"/>
                <a:cs typeface="Calibri"/>
                <a:sym typeface="Calibri"/>
              </a:rPr>
              <a:t>The experiment duration was about 5 hours </a:t>
            </a:r>
            <a:endParaRPr/>
          </a:p>
          <a:p>
            <a:pPr indent="-1968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rgbClr val="8BA3B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8BA3B8"/>
              </a:buClr>
              <a:buSzPts val="1400"/>
              <a:buFont typeface="Arial"/>
              <a:buChar char="•"/>
            </a:pPr>
            <a:r>
              <a:rPr lang="it-IT" sz="1400">
                <a:solidFill>
                  <a:srgbClr val="8BA3B8"/>
                </a:solidFill>
                <a:latin typeface="Calibri"/>
                <a:ea typeface="Calibri"/>
                <a:cs typeface="Calibri"/>
                <a:sym typeface="Calibri"/>
              </a:rPr>
              <a:t>The interval between samples is 30 seconds.</a:t>
            </a:r>
            <a:endParaRPr b="0" i="0" sz="1400">
              <a:solidFill>
                <a:srgbClr val="8BA3B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4"/>
          <p:cNvSpPr txBox="1"/>
          <p:nvPr/>
        </p:nvSpPr>
        <p:spPr>
          <a:xfrm>
            <a:off x="2416232" y="536180"/>
            <a:ext cx="210312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Temperature (Celsius)</a:t>
            </a:r>
            <a:endParaRPr b="0" baseline="-25000" i="0" sz="1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4"/>
          <p:cNvSpPr txBox="1"/>
          <p:nvPr/>
        </p:nvSpPr>
        <p:spPr>
          <a:xfrm>
            <a:off x="8456122" y="4298509"/>
            <a:ext cx="210312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Samples</a:t>
            </a:r>
            <a:endParaRPr b="0" baseline="-25000" i="0" sz="1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5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36C0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5"/>
          <p:cNvSpPr/>
          <p:nvPr/>
        </p:nvSpPr>
        <p:spPr>
          <a:xfrm>
            <a:off x="461356" y="277552"/>
            <a:ext cx="1422400" cy="292608"/>
          </a:xfrm>
          <a:prstGeom prst="rect">
            <a:avLst/>
          </a:prstGeom>
          <a:solidFill>
            <a:srgbClr val="E36C0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5"/>
          <p:cNvSpPr txBox="1"/>
          <p:nvPr/>
        </p:nvSpPr>
        <p:spPr>
          <a:xfrm>
            <a:off x="532476" y="269967"/>
            <a:ext cx="128016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14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EXPERIMENT</a:t>
            </a:r>
            <a:endParaRPr b="1" i="0" sz="1400">
              <a:solidFill>
                <a:srgbClr val="0D1B2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5" name="Google Shape;38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27878" y="706491"/>
            <a:ext cx="6333032" cy="3730518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Google Shape;386;p15"/>
          <p:cNvSpPr txBox="1"/>
          <p:nvPr/>
        </p:nvSpPr>
        <p:spPr>
          <a:xfrm>
            <a:off x="90747" y="748374"/>
            <a:ext cx="2413462" cy="35394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968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>
              <a:solidFill>
                <a:srgbClr val="8BA3B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8BA3B8"/>
              </a:buClr>
              <a:buSzPts val="1400"/>
              <a:buFont typeface="Arial"/>
              <a:buChar char="•"/>
            </a:pPr>
            <a:r>
              <a:rPr b="0" i="0" lang="it-IT" sz="1400">
                <a:solidFill>
                  <a:srgbClr val="8BA3B8"/>
                </a:solidFill>
                <a:latin typeface="Calibri"/>
                <a:ea typeface="Calibri"/>
                <a:cs typeface="Calibri"/>
                <a:sym typeface="Calibri"/>
              </a:rPr>
              <a:t>The sensor is exposed to fresh air from outside</a:t>
            </a:r>
            <a:endParaRPr b="0" i="0" sz="1400">
              <a:solidFill>
                <a:srgbClr val="8BA3B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68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rgbClr val="8BA3B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8BA3B8"/>
              </a:buClr>
              <a:buSzPts val="1400"/>
              <a:buFont typeface="Arial"/>
              <a:buChar char="•"/>
            </a:pPr>
            <a:r>
              <a:rPr lang="it-IT" sz="1400">
                <a:solidFill>
                  <a:srgbClr val="8BA3B8"/>
                </a:solidFill>
                <a:latin typeface="Calibri"/>
                <a:ea typeface="Calibri"/>
                <a:cs typeface="Calibri"/>
                <a:sym typeface="Calibri"/>
              </a:rPr>
              <a:t>Then the sensor is deployed inside a room, with two people; the room’s door and windows are kept closed for the experiment duration</a:t>
            </a:r>
            <a:endParaRPr b="0" i="0" sz="1400">
              <a:solidFill>
                <a:srgbClr val="8BA3B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68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rgbClr val="8BA3B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8BA3B8"/>
              </a:buClr>
              <a:buSzPts val="1400"/>
              <a:buFont typeface="Arial"/>
              <a:buChar char="•"/>
            </a:pPr>
            <a:r>
              <a:rPr b="0" i="0" lang="it-IT" sz="1400">
                <a:solidFill>
                  <a:srgbClr val="8BA3B8"/>
                </a:solidFill>
                <a:latin typeface="Calibri"/>
                <a:ea typeface="Calibri"/>
                <a:cs typeface="Calibri"/>
                <a:sym typeface="Calibri"/>
              </a:rPr>
              <a:t>The experiment duration was about 5 hours </a:t>
            </a:r>
            <a:endParaRPr/>
          </a:p>
          <a:p>
            <a:pPr indent="-1968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rgbClr val="8BA3B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8BA3B8"/>
              </a:buClr>
              <a:buSzPts val="1400"/>
              <a:buFont typeface="Arial"/>
              <a:buChar char="•"/>
            </a:pPr>
            <a:r>
              <a:rPr lang="it-IT" sz="1400">
                <a:solidFill>
                  <a:srgbClr val="8BA3B8"/>
                </a:solidFill>
                <a:latin typeface="Calibri"/>
                <a:ea typeface="Calibri"/>
                <a:cs typeface="Calibri"/>
                <a:sym typeface="Calibri"/>
              </a:rPr>
              <a:t>The interval between samples is 30 seconds.</a:t>
            </a:r>
            <a:endParaRPr b="0" i="0" sz="1400">
              <a:solidFill>
                <a:srgbClr val="8BA3B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5"/>
          <p:cNvSpPr txBox="1"/>
          <p:nvPr/>
        </p:nvSpPr>
        <p:spPr>
          <a:xfrm>
            <a:off x="2504209" y="521642"/>
            <a:ext cx="210312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Relative Humidity (100%)</a:t>
            </a:r>
            <a:endParaRPr b="0" baseline="-25000" i="0" sz="1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5"/>
          <p:cNvSpPr txBox="1"/>
          <p:nvPr/>
        </p:nvSpPr>
        <p:spPr>
          <a:xfrm>
            <a:off x="8456122" y="4298509"/>
            <a:ext cx="210312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Samples</a:t>
            </a:r>
            <a:endParaRPr b="0" baseline="-25000" i="0" sz="1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16"/>
          <p:cNvSpPr/>
          <p:nvPr/>
        </p:nvSpPr>
        <p:spPr>
          <a:xfrm>
            <a:off x="0" y="64008"/>
            <a:ext cx="9144000" cy="5143500"/>
          </a:xfrm>
          <a:prstGeom prst="rect">
            <a:avLst/>
          </a:prstGeom>
          <a:solidFill>
            <a:srgbClr val="0D1B2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6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8384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6"/>
          <p:cNvSpPr/>
          <p:nvPr/>
        </p:nvSpPr>
        <p:spPr>
          <a:xfrm>
            <a:off x="365760" y="160020"/>
            <a:ext cx="2094806" cy="307777"/>
          </a:xfrm>
          <a:prstGeom prst="rect">
            <a:avLst/>
          </a:prstGeom>
          <a:solidFill>
            <a:srgbClr val="E8384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6"/>
          <p:cNvSpPr txBox="1"/>
          <p:nvPr/>
        </p:nvSpPr>
        <p:spPr>
          <a:xfrm>
            <a:off x="365760" y="146645"/>
            <a:ext cx="209480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CONSTRAINTS (updated)</a:t>
            </a:r>
            <a:endParaRPr b="1" i="0" sz="1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6"/>
          <p:cNvSpPr/>
          <p:nvPr/>
        </p:nvSpPr>
        <p:spPr>
          <a:xfrm>
            <a:off x="365760" y="1028700"/>
            <a:ext cx="2606040" cy="3564302"/>
          </a:xfrm>
          <a:prstGeom prst="rect">
            <a:avLst/>
          </a:prstGeom>
          <a:solidFill>
            <a:srgbClr val="13233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6"/>
          <p:cNvSpPr/>
          <p:nvPr/>
        </p:nvSpPr>
        <p:spPr>
          <a:xfrm>
            <a:off x="365760" y="1028700"/>
            <a:ext cx="2606040" cy="45720"/>
          </a:xfrm>
          <a:prstGeom prst="rect">
            <a:avLst/>
          </a:prstGeom>
          <a:solidFill>
            <a:srgbClr val="E8384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6"/>
          <p:cNvSpPr txBox="1"/>
          <p:nvPr/>
        </p:nvSpPr>
        <p:spPr>
          <a:xfrm>
            <a:off x="502920" y="1165860"/>
            <a:ext cx="233172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1400">
                <a:solidFill>
                  <a:srgbClr val="E8384D"/>
                </a:solidFill>
                <a:latin typeface="Calibri"/>
                <a:ea typeface="Calibri"/>
                <a:cs typeface="Calibri"/>
                <a:sym typeface="Calibri"/>
              </a:rPr>
              <a:t>Power usage</a:t>
            </a:r>
            <a:endParaRPr b="1" i="0" sz="1400">
              <a:solidFill>
                <a:srgbClr val="E8384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6"/>
          <p:cNvSpPr txBox="1"/>
          <p:nvPr/>
        </p:nvSpPr>
        <p:spPr>
          <a:xfrm>
            <a:off x="502920" y="1378744"/>
            <a:ext cx="2413500" cy="3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>
                <a:solidFill>
                  <a:srgbClr val="8BA3B8"/>
                </a:solidFill>
                <a:latin typeface="Calibri"/>
                <a:ea typeface="Calibri"/>
                <a:cs typeface="Calibri"/>
                <a:sym typeface="Calibri"/>
              </a:rPr>
              <a:t>At least 3 months of autonomous operation with a 3000 mAh LiPo battery.</a:t>
            </a:r>
            <a:endParaRPr b="1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8BA3B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rgbClr val="8BA3B8"/>
                </a:solidFill>
                <a:latin typeface="Calibri"/>
                <a:ea typeface="Calibri"/>
                <a:cs typeface="Calibri"/>
                <a:sym typeface="Calibri"/>
              </a:rPr>
              <a:t>Every time the system wakes up, it performs the following tasks: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8BA3B8"/>
              </a:buClr>
              <a:buSzPts val="1400"/>
              <a:buFont typeface="Arial"/>
              <a:buChar char="•"/>
            </a:pPr>
            <a:r>
              <a:rPr lang="it-IT" sz="1400">
                <a:solidFill>
                  <a:srgbClr val="8BA3B8"/>
                </a:solidFill>
                <a:latin typeface="Calibri"/>
                <a:ea typeface="Calibri"/>
                <a:cs typeface="Calibri"/>
                <a:sym typeface="Calibri"/>
              </a:rPr>
              <a:t>Wake up the SCD41 and ask for a measurement</a:t>
            </a:r>
            <a:endParaRPr sz="1400">
              <a:solidFill>
                <a:srgbClr val="8BA3B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8BA3B8"/>
              </a:buClr>
              <a:buSzPts val="1400"/>
              <a:buFont typeface="Arial"/>
              <a:buChar char="•"/>
            </a:pPr>
            <a:r>
              <a:rPr b="0" i="0" lang="it-IT" sz="1400">
                <a:solidFill>
                  <a:srgbClr val="8BA3B8"/>
                </a:solidFill>
                <a:latin typeface="Calibri"/>
                <a:ea typeface="Calibri"/>
                <a:cs typeface="Calibri"/>
                <a:sym typeface="Calibri"/>
              </a:rPr>
              <a:t>Light Sleep for 5 seconds during the measurement</a:t>
            </a:r>
            <a:endParaRPr sz="1400">
              <a:solidFill>
                <a:srgbClr val="8BA3B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8BA3B8"/>
              </a:buClr>
              <a:buSzPts val="1400"/>
              <a:buFont typeface="Arial"/>
              <a:buChar char="•"/>
            </a:pPr>
            <a:r>
              <a:rPr lang="it-IT" sz="1400">
                <a:solidFill>
                  <a:srgbClr val="8BA3B8"/>
                </a:solidFill>
                <a:latin typeface="Calibri"/>
                <a:ea typeface="Calibri"/>
                <a:cs typeface="Calibri"/>
                <a:sym typeface="Calibri"/>
              </a:rPr>
              <a:t>Transmit the data with LoRa.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8BA3B8"/>
              </a:buClr>
              <a:buSzPts val="1400"/>
              <a:buFont typeface="Arial"/>
              <a:buChar char="•"/>
            </a:pPr>
            <a:r>
              <a:rPr b="0" i="0" lang="it-IT" sz="1400">
                <a:solidFill>
                  <a:srgbClr val="8BA3B8"/>
                </a:solidFill>
                <a:latin typeface="Calibri"/>
                <a:ea typeface="Calibri"/>
                <a:cs typeface="Calibri"/>
                <a:sym typeface="Calibri"/>
              </a:rPr>
              <a:t>Go back to Deep Slee</a:t>
            </a:r>
            <a:r>
              <a:rPr lang="it-IT" sz="1400">
                <a:solidFill>
                  <a:srgbClr val="8BA3B8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endParaRPr b="0" i="0" sz="1400">
              <a:solidFill>
                <a:srgbClr val="8BA3B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68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>
              <a:solidFill>
                <a:srgbClr val="8BA3B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6"/>
          <p:cNvSpPr/>
          <p:nvPr/>
        </p:nvSpPr>
        <p:spPr>
          <a:xfrm>
            <a:off x="3108960" y="1015663"/>
            <a:ext cx="2606040" cy="2066973"/>
          </a:xfrm>
          <a:prstGeom prst="rect">
            <a:avLst/>
          </a:prstGeom>
          <a:solidFill>
            <a:srgbClr val="13233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6"/>
          <p:cNvSpPr/>
          <p:nvPr/>
        </p:nvSpPr>
        <p:spPr>
          <a:xfrm>
            <a:off x="3108960" y="1015663"/>
            <a:ext cx="2606040" cy="45720"/>
          </a:xfrm>
          <a:prstGeom prst="rect">
            <a:avLst/>
          </a:prstGeom>
          <a:solidFill>
            <a:srgbClr val="F5A62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6"/>
          <p:cNvSpPr txBox="1"/>
          <p:nvPr/>
        </p:nvSpPr>
        <p:spPr>
          <a:xfrm>
            <a:off x="3246120" y="1152823"/>
            <a:ext cx="233172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1400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False alarm prevention</a:t>
            </a:r>
            <a:endParaRPr b="1" i="0" sz="1400">
              <a:solidFill>
                <a:srgbClr val="F5A62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6"/>
          <p:cNvSpPr txBox="1"/>
          <p:nvPr/>
        </p:nvSpPr>
        <p:spPr>
          <a:xfrm>
            <a:off x="3246120" y="1655743"/>
            <a:ext cx="23316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1400">
                <a:solidFill>
                  <a:srgbClr val="8BA3B8"/>
                </a:solidFill>
                <a:latin typeface="Calibri"/>
                <a:ea typeface="Calibri"/>
                <a:cs typeface="Calibri"/>
                <a:sym typeface="Calibri"/>
              </a:rPr>
              <a:t>The SCD41’s CO2 measurements have strange peaks, filtering of those values is needed, otherwise fa</a:t>
            </a:r>
            <a:r>
              <a:rPr lang="it-IT">
                <a:solidFill>
                  <a:srgbClr val="8BA3B8"/>
                </a:solidFill>
                <a:latin typeface="Calibri"/>
                <a:ea typeface="Calibri"/>
                <a:cs typeface="Calibri"/>
                <a:sym typeface="Calibri"/>
              </a:rPr>
              <a:t>lse pre alarms will happen</a:t>
            </a:r>
            <a:r>
              <a:rPr b="0" i="0" lang="it-IT" sz="1400">
                <a:solidFill>
                  <a:srgbClr val="8BA3B8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400">
              <a:solidFill>
                <a:srgbClr val="8BA3B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6"/>
          <p:cNvSpPr/>
          <p:nvPr/>
        </p:nvSpPr>
        <p:spPr>
          <a:xfrm>
            <a:off x="5989325" y="1010569"/>
            <a:ext cx="2606100" cy="3564300"/>
          </a:xfrm>
          <a:prstGeom prst="rect">
            <a:avLst/>
          </a:prstGeom>
          <a:solidFill>
            <a:srgbClr val="13233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6"/>
          <p:cNvSpPr/>
          <p:nvPr/>
        </p:nvSpPr>
        <p:spPr>
          <a:xfrm>
            <a:off x="5989320" y="1010583"/>
            <a:ext cx="2606040" cy="45720"/>
          </a:xfrm>
          <a:prstGeom prst="rect">
            <a:avLst/>
          </a:prstGeom>
          <a:solidFill>
            <a:srgbClr val="2E6DA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6"/>
          <p:cNvSpPr txBox="1"/>
          <p:nvPr/>
        </p:nvSpPr>
        <p:spPr>
          <a:xfrm>
            <a:off x="6126480" y="1147743"/>
            <a:ext cx="233172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1400">
                <a:solidFill>
                  <a:srgbClr val="2E6DA4"/>
                </a:solidFill>
                <a:latin typeface="Calibri"/>
                <a:ea typeface="Calibri"/>
                <a:cs typeface="Calibri"/>
                <a:sym typeface="Calibri"/>
              </a:rPr>
              <a:t>Latency</a:t>
            </a:r>
            <a:endParaRPr b="1" i="0" sz="1400">
              <a:solidFill>
                <a:srgbClr val="2E6DA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6"/>
          <p:cNvSpPr txBox="1"/>
          <p:nvPr/>
        </p:nvSpPr>
        <p:spPr>
          <a:xfrm>
            <a:off x="6126480" y="1650663"/>
            <a:ext cx="2331600" cy="24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1400">
                <a:solidFill>
                  <a:srgbClr val="8BA3B8"/>
                </a:solidFill>
                <a:latin typeface="Calibri"/>
                <a:ea typeface="Calibri"/>
                <a:cs typeface="Calibri"/>
                <a:sym typeface="Calibri"/>
              </a:rPr>
              <a:t>Even though the observed phenomenon is slow, </a:t>
            </a:r>
            <a:r>
              <a:rPr lang="it-IT" sz="1400">
                <a:solidFill>
                  <a:srgbClr val="8BA3B8"/>
                </a:solidFill>
                <a:latin typeface="Calibri"/>
                <a:ea typeface="Calibri"/>
                <a:cs typeface="Calibri"/>
                <a:sym typeface="Calibri"/>
              </a:rPr>
              <a:t>the need to filter and average measurements to prevent false alarms, increases latency considerably.</a:t>
            </a:r>
            <a:endParaRPr sz="1400">
              <a:solidFill>
                <a:srgbClr val="8BA3B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BA3B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>
                <a:solidFill>
                  <a:srgbClr val="8BA3B8"/>
                </a:solidFill>
                <a:latin typeface="Calibri"/>
                <a:ea typeface="Calibri"/>
                <a:cs typeface="Calibri"/>
                <a:sym typeface="Calibri"/>
              </a:rPr>
              <a:t>When a VERY High CO2 concentration event verifies, the sensor needs to react within 10 minutes (buzzer).</a:t>
            </a:r>
            <a:endParaRPr b="1">
              <a:solidFill>
                <a:srgbClr val="8BA3B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17"/>
          <p:cNvSpPr/>
          <p:nvPr/>
        </p:nvSpPr>
        <p:spPr>
          <a:xfrm>
            <a:off x="0" y="64008"/>
            <a:ext cx="9144000" cy="5143500"/>
          </a:xfrm>
          <a:prstGeom prst="rect">
            <a:avLst/>
          </a:prstGeom>
          <a:solidFill>
            <a:srgbClr val="0D1B2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7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8384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7"/>
          <p:cNvSpPr/>
          <p:nvPr/>
        </p:nvSpPr>
        <p:spPr>
          <a:xfrm>
            <a:off x="365760" y="160020"/>
            <a:ext cx="2094806" cy="307777"/>
          </a:xfrm>
          <a:prstGeom prst="rect">
            <a:avLst/>
          </a:prstGeom>
          <a:solidFill>
            <a:srgbClr val="E8384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7"/>
          <p:cNvSpPr txBox="1"/>
          <p:nvPr/>
        </p:nvSpPr>
        <p:spPr>
          <a:xfrm>
            <a:off x="365760" y="146645"/>
            <a:ext cx="209480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Final Notes</a:t>
            </a:r>
            <a:endParaRPr b="1" i="0" sz="1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7"/>
          <p:cNvSpPr txBox="1"/>
          <p:nvPr/>
        </p:nvSpPr>
        <p:spPr>
          <a:xfrm>
            <a:off x="365759" y="531805"/>
            <a:ext cx="7126085" cy="31085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968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>
              <a:solidFill>
                <a:srgbClr val="8BA3B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rgbClr val="8BA3B8"/>
                </a:solidFill>
                <a:latin typeface="Calibri"/>
                <a:ea typeface="Calibri"/>
                <a:cs typeface="Calibri"/>
                <a:sym typeface="Calibri"/>
              </a:rPr>
              <a:t>The current prototype operates the SCD41 in two modes:</a:t>
            </a:r>
            <a:endParaRPr/>
          </a:p>
          <a:p>
            <a:pPr indent="-1968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rgbClr val="8BA3B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8BA3B8"/>
              </a:buClr>
              <a:buSzPts val="1400"/>
              <a:buFont typeface="Arial"/>
              <a:buChar char="•"/>
            </a:pPr>
            <a:r>
              <a:rPr b="1" lang="it-IT" sz="1400">
                <a:solidFill>
                  <a:srgbClr val="8BA3B8"/>
                </a:solidFill>
                <a:latin typeface="Calibri"/>
                <a:ea typeface="Calibri"/>
                <a:cs typeface="Calibri"/>
                <a:sym typeface="Calibri"/>
              </a:rPr>
              <a:t>5 minute sampling </a:t>
            </a:r>
            <a:r>
              <a:rPr lang="it-IT" sz="1400">
                <a:solidFill>
                  <a:srgbClr val="8BA3B8"/>
                </a:solidFill>
                <a:latin typeface="Calibri"/>
                <a:ea typeface="Calibri"/>
                <a:cs typeface="Calibri"/>
                <a:sym typeface="Calibri"/>
              </a:rPr>
              <a:t>interval, at </a:t>
            </a:r>
            <a:r>
              <a:rPr b="1" lang="it-IT" sz="1400">
                <a:solidFill>
                  <a:srgbClr val="8BA3B8"/>
                </a:solidFill>
                <a:latin typeface="Calibri"/>
                <a:ea typeface="Calibri"/>
                <a:cs typeface="Calibri"/>
                <a:sym typeface="Calibri"/>
              </a:rPr>
              <a:t>1,67% duty cycle </a:t>
            </a:r>
            <a:r>
              <a:rPr lang="it-IT" sz="1400">
                <a:solidFill>
                  <a:srgbClr val="8BA3B8"/>
                </a:solidFill>
                <a:latin typeface="Calibri"/>
                <a:ea typeface="Calibri"/>
                <a:cs typeface="Calibri"/>
                <a:sym typeface="Calibri"/>
              </a:rPr>
              <a:t>(5 seconds of sampling and 295 seconds idling); on the datasheet, it is reported that the sensor requires 0,45 mA on average in this mode.</a:t>
            </a:r>
            <a:endParaRPr/>
          </a:p>
          <a:p>
            <a:pPr indent="-1968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>
              <a:solidFill>
                <a:srgbClr val="8BA3B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8BA3B8"/>
              </a:buClr>
              <a:buSzPts val="1400"/>
              <a:buFont typeface="Arial"/>
              <a:buChar char="•"/>
            </a:pPr>
            <a:r>
              <a:rPr b="1" lang="it-IT" sz="1400">
                <a:solidFill>
                  <a:srgbClr val="8BA3B8"/>
                </a:solidFill>
                <a:latin typeface="Calibri"/>
                <a:ea typeface="Calibri"/>
                <a:cs typeface="Calibri"/>
                <a:sym typeface="Calibri"/>
              </a:rPr>
              <a:t>2 minute sampling </a:t>
            </a:r>
            <a:r>
              <a:rPr lang="it-IT" sz="1400">
                <a:solidFill>
                  <a:srgbClr val="8BA3B8"/>
                </a:solidFill>
                <a:latin typeface="Calibri"/>
                <a:ea typeface="Calibri"/>
                <a:cs typeface="Calibri"/>
                <a:sym typeface="Calibri"/>
              </a:rPr>
              <a:t>interval, at </a:t>
            </a:r>
            <a:r>
              <a:rPr b="1" lang="it-IT" sz="1400">
                <a:solidFill>
                  <a:srgbClr val="8BA3B8"/>
                </a:solidFill>
                <a:latin typeface="Calibri"/>
                <a:ea typeface="Calibri"/>
                <a:cs typeface="Calibri"/>
                <a:sym typeface="Calibri"/>
              </a:rPr>
              <a:t>4,16% duty cycle </a:t>
            </a:r>
            <a:r>
              <a:rPr lang="it-IT" sz="1400">
                <a:solidFill>
                  <a:srgbClr val="8BA3B8"/>
                </a:solidFill>
                <a:latin typeface="Calibri"/>
                <a:ea typeface="Calibri"/>
                <a:cs typeface="Calibri"/>
                <a:sym typeface="Calibri"/>
              </a:rPr>
              <a:t>(5 seconds of sampling and 115 seconds idling).</a:t>
            </a:r>
            <a:endParaRPr/>
          </a:p>
          <a:p>
            <a:pPr indent="-1968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>
              <a:solidFill>
                <a:srgbClr val="8BA3B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rgbClr val="8BA3B8"/>
                </a:solidFill>
                <a:latin typeface="Calibri"/>
                <a:ea typeface="Calibri"/>
                <a:cs typeface="Calibri"/>
                <a:sym typeface="Calibri"/>
              </a:rPr>
              <a:t>Every time a sample is taken, the board has to wait in light sleep for at least 5 seconds (about 1mA required on average).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>
              <a:solidFill>
                <a:srgbClr val="8BA3B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rgbClr val="8BA3B8"/>
                </a:solidFill>
                <a:latin typeface="Calibri"/>
                <a:ea typeface="Calibri"/>
                <a:cs typeface="Calibri"/>
                <a:sym typeface="Calibri"/>
              </a:rPr>
              <a:t>When the internal buffer of measurements is full, the device transmits all the data at once.</a:t>
            </a:r>
            <a:endParaRPr b="0" i="0" sz="1400">
              <a:solidFill>
                <a:srgbClr val="8BA3B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1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6F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8"/>
          <p:cNvSpPr/>
          <p:nvPr/>
        </p:nvSpPr>
        <p:spPr>
          <a:xfrm>
            <a:off x="457200" y="164591"/>
            <a:ext cx="1257300" cy="307777"/>
          </a:xfrm>
          <a:prstGeom prst="rect">
            <a:avLst/>
          </a:prstGeom>
          <a:solidFill>
            <a:srgbClr val="2E6DA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26" name="Google Shape;42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50504" y="0"/>
            <a:ext cx="7293496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Google Shape;427;p18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722CA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8"/>
          <p:cNvSpPr txBox="1"/>
          <p:nvPr/>
        </p:nvSpPr>
        <p:spPr>
          <a:xfrm>
            <a:off x="457200" y="174061"/>
            <a:ext cx="1257300" cy="523220"/>
          </a:xfrm>
          <a:prstGeom prst="rect">
            <a:avLst/>
          </a:prstGeom>
          <a:solidFill>
            <a:srgbClr val="722CA6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NEXT STEPS (on device)</a:t>
            </a:r>
            <a:endParaRPr b="1" i="0" sz="1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>Dakshita</dc:creator>
</cp:coreProperties>
</file>